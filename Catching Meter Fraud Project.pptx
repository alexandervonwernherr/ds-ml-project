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embeddedFontLst>
    <p:embeddedFont>
      <p:font typeface="Space Grotesk" pitchFamily="34" charset="0"/>
      <p:regular r:id="rId22"/>
      <p:bold r:id="rId23"/>
    </p:embeddedFont>
    <p:embeddedFont>
      <p:font typeface="JetBrains Mono" panose="02000009000000000000" pitchFamily="49" charset="0"/>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story: we tried to catch meter fraud, and the model only got meaningfully better once we stopped feeding it static values and started describing how each client’s behaviour changes over time. The three numbers at the bottom are the whole talk in miniature: 135k clients, 4.5M invoices, and test AUC from 0.796 to 0.872.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utility (electricity and gas) loses money when clients tamper with meters: consumption happens but is never billed. Inspections are expensive, so the real question is not “who is a fraudster” but “who should we inspect first”. That is why our output is a probability per client that can be sorted into an inspection list. Audience: the revenue-protection and inspection teams who plan the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linked by client_id. The client table has 135,493 clients, one row each, and carries the label we predict. The invoice table has almost 4.5 million rows: one per bill, with meter readings (old and new index), four consumption levels, tariff, meter status and the reader’s remark. Each client has between 1 and 439 invoices, median 30. Because we predict per client, every invoice feature is summarised to one row per client. Our first hunches were location and consumption; the rest of the talk shows which signals actually mattered. Data notes: 13 invoices had the letter “A” in the meter status column; we treated those as missing. Three near-duplicate columns (tarif_type, new_index, disrict) are left out of every model, baseline included; slide 11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5.58% of clients are labelled as fraud, about one in eighteen. That makes accuracy useless: a “model” that says nobody is a fraudster scores 94.4% accuracy and catches nothing. So we use AUC. In plain words: take one random fraud client and one random honest client; AUC is the probability the model ranks the fraud client higher. 0.5 means a coin flip, 1.0 means a perfect ranking. Since the business output is a ranked inspection list, a ranking metric is the right yardstick.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LightGBM with default settings, as suggested in the challenge description, on the raw data only. The model needs one row per client, so each raw invoice column is simply averaged per client; no new ideas added. The three near-duplicate columns (tarif_type, new_index, disrict) are already left out here, as in every model. Test AUC 0.796 is the number to beat. Attempt 1: a grid search over learning rate (0.01, 0.1, 0.2, 1), number of trees (10, 100, 200) and bin sample size (1k, 10k, 20k), 36 combinations with 3-fold cross-validation. Test AUC moved by only 0.0004 (0.796 to 0.797), and the best learning rate and tree count turned out to be LightGBM’s defaults. Conclusion: tuning was not where the gains were. Every model in this talk is scored on the same 25% hold-out set of 33,874 clients, split once up front and stratified so the fraud share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turning point of the story. We discussed how fraud actually happens: people tamper with meters. A tampered meter does not necessarily show a strange level of consumption, but it shows a strange change: tariffs that switch, readings that go backwards, bills that drop to zero. So instead of feeding the model static values, we built features that describe change. The reading remark is the exception: it is a raw column we used as it comes, but it turned out to be informative on its own. The next four slides take each signal in turn, each with a quick check of the fraud rate by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engineering anything, one raw column stood out: reading_remarque, a code the meter reader assigns at each reading. Clients who ever received code 8 have a 7.25% fraud rate, well above the 5.58% average, while code 7 sits at 0.21%, roughly 35 times lower. A client can receive several codes over time, so the client counts overlap. We feed this column to the model as it is; the point of this slide is that the reader on site already notices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client we count how many different tariff types appear across their invoices. Clients who stayed on one tariff have a 3.9% fraud rate, below the 5.58% average. Two tariffs: 7.1%. Three to five: 11 to 18%. Six tariffs reaches 55.6%, but that is only 9 clients, so treat it as anecdotal; the bar is cut to keep the chart readable. Alongside this we added the number of distinct meters and the number of invoices per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meter index should only go up. When the new reading is lower than the old one, something happened to the meter. We count, per client, how many invoices show this, and what share of their invoices it is, because one backwards reading out of one invoice is very different from one out of fifty. It is rare: 1,816 clients in total. But a single backwards reading already doubles the fraud rate, to about 11%, and the 5 clients with six or more reach 40%. The code on the slide is simplified; diff_index is new index minus old index per invoice.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added up the four consumption levels per invoice and summarised them per client: mean, spread, minimum and the share of zero-consumption bills. The zero bills are a clear signal: clients with at least one zero bill have a 7.17% fraud rate against 3.75% for those who never had one, almost twice as high. We also expected the classic tampered-meter shape, a drop between the earlier and the later half of a client’s invoices. Honest result: on its own it shows no clean pattern; a drop over 50% is even slightly below average. We kept it as an input because the model can still combine it with other features, but we did not score it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summary of the feature set. Dropped: three columns that repeat information already in the data. tarif_type is 99.6% correlated with counter_type, so we keep counter_type; the number of tariff types per client is still built as a feature. new_index is 99.3% correlated with old_index; what matters is their difference, which we built as a feature. disrict is a coarser version of region. We also tried dropping counter_code and counter_statue, but the model then flagged about 800 more honest clients, so they stay, together with the four consumption levels. Added: eleven engineered features in three groups: meter index (average index difference, count and share of backwards readings), tariffs and meters (number of tariff types, meters and invoices per client), and consumption (mean, spread, minimum, share of zero bills, change from earlier to later invoices). The heatmap shows the final 25 features: no 99%-level duplicates remain; the strongest remaining pairs are among the per-client counts and the consumption summaries.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KPI ladder. Baseline: test AUC 0.796. Tuning the baseline: 0.797, a gain of only 0.0004. Adding the engineered features with default settings: 0.873. Tuning on top of the features gives 0.872, slightly lower, so tuning adds nothing in either case; the final model (features + tuning, 0.872) is the one used on the next slide. The gain from the features is +0.076 either way. Reading train against test: the baseline scores 0.872 on training data but 0.796 on unseen clients, a gap of 0.075, a sign of overfitting to noise. With the features, the gap shrinks to 0.046, so the model learned patterns that hold for new clients. Both test scores are well above 0.5, so this is not underfitting. Cross-validated AUC of the final model during the search was 0.862, close to the test score. We did not score each feature group separately; that ablation is a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 tells us how well the model ranks; this slide is about where to draw the line. With the default rule, flag a client only when the model is more than 50% sure, the model flags few people: it is right 59% of the time but catches only 179 of 1,892 fraudsters, under 10%. Two changes: fraud weighting, which makes a missed fraudster cost more during training, and a lower bar for flagging, chosen on training data with out-of-fold predictions so the test set stays untouched; the target was to catch 70% of fraud, which gave a cut-off of 0.547. Result: 1,369 fraudsters caught, 72%, at the price of 5,080 honest clients flagged. Still, about one in five inspections finds fraud, compared with one in eighteen when picking clients at random. Where exactly to put the cut-off is a business decision: inspection capacity and the cost of a visit versus a missed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product is simple: every week, score all clients and hand the inspection team a list sorted by fraud risk. They work from the top down as far as their capacity allows. At the cut-off we chose, roughly one visit in five finds fraud, nearly four times better than random visits. Recommendations: let the business set the cut-off from inspection capacity and the cost of a missed fraud; use the strongest signals, backwards readings and frequent tariff changes, as red flags even outside the model; and record every inspection outcome so the model keeps learning. Next steps: measure each feature group on its own to see exactly which one carries the gain, add data such as past inspections, try other gradient-boosting libraries, and calibrate the scores so they can be read as real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one-line summary: tuning the model gave practically nothing (+0.0004), describing how clients’ behaviour changes gave +0.076, and at the chosen cut-off the model catches 72% of fraud with about one in five inspections hitting a real case. Then open the floor for questions. Likely questions: why AUC and not accuracy (slide 4), which single feature helped most (not measured separately yet; ablation is a next step), and whether the model overfits (train–test gap shrank,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50"/>
            <a:ext cx="10566400" cy="4191050"/>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50"/>
            <a:ext cx="10566400" cy="4191050"/>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pic>
        <p:nvPicPr>
          <p:cNvPr id="2" name="Image 0" descr="Decorative meter dial with the needle turning backwards">    </p:cNvPr>
          <p:cNvPicPr>
            <a:picLocks noChangeAspect="1"/>
          </p:cNvPicPr>
          <p:nvPr/>
        </p:nvPicPr>
        <p:blipFill>
          <a:blip r:embed="rId1"/>
          <a:srcRect l="0" r="0" t="0" b="0"/>
          <a:stretch/>
        </p:blipFill>
        <p:spPr>
          <a:xfrm>
            <a:off x="8585200" y="1270000"/>
            <a:ext cx="2794000" cy="2794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04B"/>
                </a:solidFill>
                <a:latin typeface="IBM Plex Sans" pitchFamily="34" charset="0"/>
                <a:ea typeface="IBM Plex Sans" pitchFamily="34" charset="-122"/>
                <a:cs typeface="IBM Plex Sans" pitchFamily="34" charset="-120"/>
              </a:rPr>
              <a:t>FRAUD DETECTION · ELECTRICITY &amp; GAS BILLING</a:t>
            </a:r>
            <a:endParaRPr lang="en-US" sz="1200" dirty="0"/>
          </a:p>
        </p:txBody>
      </p:sp>
      <p:sp>
        <p:nvSpPr>
          <p:cNvPr id="4" name="Text 1"/>
          <p:cNvSpPr/>
          <p:nvPr>
            <p:ph type="title"/>
          </p:nvPr>
        </p:nvSpPr>
        <p:spPr>
          <a:xfrm>
            <a:off x="812800" y="2197100"/>
            <a:ext cx="71945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3EC"/>
                </a:solidFill>
                <a:latin typeface="Space Grotesk" pitchFamily="34" charset="0"/>
                <a:ea typeface="Space Grotesk" pitchFamily="34" charset="-122"/>
                <a:cs typeface="Space Grotesk" pitchFamily="34" charset="-120"/>
              </a:rPr>
              <a:t>Catching meter fraud</a:t>
            </a:r>
            <a:endParaRPr lang="en-US" sz="6000" dirty="0"/>
          </a:p>
        </p:txBody>
      </p:sp>
      <p:sp>
        <p:nvSpPr>
          <p:cNvPr id="5" name="Text 2"/>
          <p:cNvSpPr/>
          <p:nvPr/>
        </p:nvSpPr>
        <p:spPr>
          <a:xfrm>
            <a:off x="812800" y="3949700"/>
            <a:ext cx="77724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3CDD6"/>
                </a:solidFill>
                <a:latin typeface="IBM Plex Sans" pitchFamily="34" charset="0"/>
                <a:ea typeface="IBM Plex Sans" pitchFamily="34" charset="-122"/>
                <a:cs typeface="IBM Plex Sans" pitchFamily="34" charset="-120"/>
              </a:rPr>
              <a:t>The model got better when we looked at </a:t>
            </a:r>
            <a:r>
              <a:rPr lang="en-US" sz="2000" dirty="0">
                <a:solidFill>
                  <a:srgbClr val="F0A04B"/>
                </a:solidFill>
                <a:latin typeface="IBM Plex Sans" pitchFamily="34" charset="0"/>
                <a:ea typeface="IBM Plex Sans" pitchFamily="34" charset="-122"/>
                <a:cs typeface="IBM Plex Sans" pitchFamily="34" charset="-120"/>
              </a:rPr>
              <a:t>changes</a:t>
            </a:r>
            <a:r>
              <a:rPr lang="en-US" sz="2000" dirty="0">
                <a:solidFill>
                  <a:srgbClr val="C3CDD6"/>
                </a:solidFill>
                <a:latin typeface="IBM Plex Sans" pitchFamily="34" charset="0"/>
                <a:ea typeface="IBM Plex Sans" pitchFamily="34" charset="-122"/>
                <a:cs typeface="IBM Plex Sans" pitchFamily="34" charset="-120"/>
              </a:rPr>
              <a:t>, not levels.</a:t>
            </a:r>
            <a:endParaRPr lang="en-US" sz="2000" dirty="0"/>
          </a:p>
        </p:txBody>
      </p:sp>
      <p:sp>
        <p:nvSpPr>
          <p:cNvPr id="6" name="Text 3"/>
          <p:cNvSpPr/>
          <p:nvPr/>
        </p:nvSpPr>
        <p:spPr>
          <a:xfrm>
            <a:off x="812800" y="5450880"/>
            <a:ext cx="115544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6F3EC"/>
                </a:solidFill>
                <a:latin typeface="Space Grotesk" pitchFamily="34" charset="0"/>
                <a:ea typeface="Space Grotesk" pitchFamily="34" charset="-122"/>
                <a:cs typeface="Space Grotesk" pitchFamily="34" charset="-120"/>
              </a:rPr>
              <a:t>135,493</a:t>
            </a:r>
            <a:endParaRPr lang="en-US" sz="2000" dirty="0"/>
          </a:p>
        </p:txBody>
      </p:sp>
      <p:sp>
        <p:nvSpPr>
          <p:cNvPr id="7" name="Text 4"/>
          <p:cNvSpPr/>
          <p:nvPr/>
        </p:nvSpPr>
        <p:spPr>
          <a:xfrm>
            <a:off x="812800" y="5831880"/>
            <a:ext cx="10136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6"/>
                </a:solidFill>
                <a:latin typeface="IBM Plex Sans" pitchFamily="34" charset="0"/>
                <a:ea typeface="IBM Plex Sans" pitchFamily="34" charset="-122"/>
                <a:cs typeface="IBM Plex Sans" pitchFamily="34" charset="-120"/>
              </a:rPr>
              <a:t>clients</a:t>
            </a:r>
            <a:endParaRPr lang="en-US" sz="1200" dirty="0"/>
          </a:p>
        </p:txBody>
      </p:sp>
      <p:sp>
        <p:nvSpPr>
          <p:cNvPr id="8" name="Text 5"/>
          <p:cNvSpPr/>
          <p:nvPr/>
        </p:nvSpPr>
        <p:spPr>
          <a:xfrm>
            <a:off x="2283668" y="5450880"/>
            <a:ext cx="9255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6F3EC"/>
                </a:solidFill>
                <a:latin typeface="Space Grotesk" pitchFamily="34" charset="0"/>
                <a:ea typeface="Space Grotesk" pitchFamily="34" charset="-122"/>
                <a:cs typeface="Space Grotesk" pitchFamily="34" charset="-120"/>
              </a:rPr>
              <a:t>4.48M</a:t>
            </a:r>
            <a:endParaRPr lang="en-US" sz="2000" dirty="0"/>
          </a:p>
        </p:txBody>
      </p:sp>
      <p:sp>
        <p:nvSpPr>
          <p:cNvPr id="9" name="Text 6"/>
          <p:cNvSpPr/>
          <p:nvPr/>
        </p:nvSpPr>
        <p:spPr>
          <a:xfrm>
            <a:off x="2283668" y="5831880"/>
            <a:ext cx="822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6"/>
                </a:solidFill>
                <a:latin typeface="IBM Plex Sans" pitchFamily="34" charset="0"/>
                <a:ea typeface="IBM Plex Sans" pitchFamily="34" charset="-122"/>
                <a:cs typeface="IBM Plex Sans" pitchFamily="34" charset="-120"/>
              </a:rPr>
              <a:t>invoices</a:t>
            </a:r>
            <a:endParaRPr lang="en-US" sz="1200" dirty="0"/>
          </a:p>
        </p:txBody>
      </p:sp>
      <p:sp>
        <p:nvSpPr>
          <p:cNvPr id="10" name="Text 7"/>
          <p:cNvSpPr/>
          <p:nvPr/>
        </p:nvSpPr>
        <p:spPr>
          <a:xfrm>
            <a:off x="3562995" y="5450880"/>
            <a:ext cx="228820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0A04B"/>
                </a:solidFill>
                <a:latin typeface="Space Grotesk" pitchFamily="34" charset="0"/>
                <a:ea typeface="Space Grotesk" pitchFamily="34" charset="-122"/>
                <a:cs typeface="Space Grotesk" pitchFamily="34" charset="-120"/>
              </a:rPr>
              <a:t>0.796 → 0.872</a:t>
            </a:r>
            <a:endParaRPr lang="en-US" sz="2000" dirty="0"/>
          </a:p>
        </p:txBody>
      </p:sp>
      <p:sp>
        <p:nvSpPr>
          <p:cNvPr id="11" name="Text 8"/>
          <p:cNvSpPr/>
          <p:nvPr/>
        </p:nvSpPr>
        <p:spPr>
          <a:xfrm>
            <a:off x="3562995" y="5831880"/>
            <a:ext cx="26658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6"/>
                </a:solidFill>
                <a:latin typeface="IBM Plex Sans" pitchFamily="34" charset="0"/>
                <a:ea typeface="IBM Plex Sans" pitchFamily="34" charset="-122"/>
                <a:cs typeface="IBM Plex Sans" pitchFamily="34" charset="-120"/>
              </a:rPr>
              <a:t>test AUC, baseline to final model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01 · THE CASE</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Some clients tamper with their meters</a:t>
            </a:r>
            <a:endParaRPr lang="en-US" sz="3200" dirty="0"/>
          </a:p>
        </p:txBody>
      </p:sp>
      <p:sp>
        <p:nvSpPr>
          <p:cNvPr id="4" name="Shape 2"/>
          <p:cNvSpPr/>
          <p:nvPr/>
        </p:nvSpPr>
        <p:spPr>
          <a:xfrm>
            <a:off x="815975" y="1857325"/>
            <a:ext cx="3380333" cy="2303661"/>
          </a:xfrm>
          <a:prstGeom prst="roundRect">
            <a:avLst>
              <a:gd name="adj" fmla="val 5375"/>
            </a:avLst>
          </a:prstGeom>
          <a:solidFill>
            <a:srgbClr val="FCFAF5"/>
          </a:solidFill>
          <a:ln w="6350">
            <a:solidFill>
              <a:srgbClr val="E3DED3"/>
            </a:solidFill>
            <a:prstDash val="solid"/>
          </a:ln>
        </p:spPr>
      </p:sp>
      <p:pic>
        <p:nvPicPr>
          <p:cNvPr id="5" name="Image 0" descr="Lightning">    </p:cNvPr>
          <p:cNvPicPr>
            <a:picLocks noChangeAspect="1"/>
          </p:cNvPicPr>
          <p:nvPr/>
        </p:nvPicPr>
        <p:blipFill>
          <a:blip r:embed="rId1"/>
          <a:srcRect l="0" r="0" t="0" b="0"/>
          <a:stretch/>
        </p:blipFill>
        <p:spPr>
          <a:xfrm>
            <a:off x="1123950" y="2165300"/>
            <a:ext cx="355600" cy="355600"/>
          </a:xfrm>
          <a:prstGeom prst="rect">
            <a:avLst/>
          </a:prstGeom>
        </p:spPr>
      </p:pic>
      <p:sp>
        <p:nvSpPr>
          <p:cNvPr id="6" name="Text 3"/>
          <p:cNvSpPr/>
          <p:nvPr/>
        </p:nvSpPr>
        <p:spPr>
          <a:xfrm>
            <a:off x="1123950" y="2647900"/>
            <a:ext cx="28473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The problem</a:t>
            </a:r>
            <a:endParaRPr lang="en-US" sz="2000" dirty="0"/>
          </a:p>
        </p:txBody>
      </p:sp>
      <p:sp>
        <p:nvSpPr>
          <p:cNvPr id="7" name="Text 4"/>
          <p:cNvSpPr/>
          <p:nvPr/>
        </p:nvSpPr>
        <p:spPr>
          <a:xfrm>
            <a:off x="1123950" y="3079700"/>
            <a:ext cx="2847315"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0"/>
                </a:solidFill>
                <a:latin typeface="IBM Plex Sans" pitchFamily="34" charset="0"/>
                <a:ea typeface="IBM Plex Sans" pitchFamily="34" charset="-122"/>
                <a:cs typeface="IBM Plex Sans" pitchFamily="34" charset="-120"/>
              </a:rPr>
              <a:t>Tampered meters mean energy is used but never billed. Every fraud the utility misses is lost revenue.</a:t>
            </a:r>
            <a:endParaRPr lang="en-US" sz="1400" dirty="0"/>
          </a:p>
        </p:txBody>
      </p:sp>
      <p:sp>
        <p:nvSpPr>
          <p:cNvPr id="8" name="Shape 5"/>
          <p:cNvSpPr/>
          <p:nvPr/>
        </p:nvSpPr>
        <p:spPr>
          <a:xfrm>
            <a:off x="4405858" y="1857325"/>
            <a:ext cx="3380333" cy="2303661"/>
          </a:xfrm>
          <a:prstGeom prst="roundRect">
            <a:avLst>
              <a:gd name="adj" fmla="val 5375"/>
            </a:avLst>
          </a:prstGeom>
          <a:solidFill>
            <a:srgbClr val="FCFAF5"/>
          </a:solidFill>
          <a:ln w="6350">
            <a:solidFill>
              <a:srgbClr val="E3DED3"/>
            </a:solidFill>
            <a:prstDash val="solid"/>
          </a:ln>
        </p:spPr>
      </p:sp>
      <p:pic>
        <p:nvPicPr>
          <p:cNvPr id="9" name="Image 1" descr="Clock">    </p:cNvPr>
          <p:cNvPicPr>
            <a:picLocks noChangeAspect="1"/>
          </p:cNvPicPr>
          <p:nvPr/>
        </p:nvPicPr>
        <p:blipFill>
          <a:blip r:embed="rId2"/>
          <a:srcRect l="0" r="0" t="0" b="0"/>
          <a:stretch/>
        </p:blipFill>
        <p:spPr>
          <a:xfrm>
            <a:off x="4713833" y="2165300"/>
            <a:ext cx="355600" cy="355600"/>
          </a:xfrm>
          <a:prstGeom prst="rect">
            <a:avLst/>
          </a:prstGeom>
        </p:spPr>
      </p:pic>
      <p:sp>
        <p:nvSpPr>
          <p:cNvPr id="10" name="Text 6"/>
          <p:cNvSpPr/>
          <p:nvPr/>
        </p:nvSpPr>
        <p:spPr>
          <a:xfrm>
            <a:off x="4713833" y="2647900"/>
            <a:ext cx="28473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The constraint</a:t>
            </a:r>
            <a:endParaRPr lang="en-US" sz="2000" dirty="0"/>
          </a:p>
        </p:txBody>
      </p:sp>
      <p:sp>
        <p:nvSpPr>
          <p:cNvPr id="11" name="Text 7"/>
          <p:cNvSpPr/>
          <p:nvPr/>
        </p:nvSpPr>
        <p:spPr>
          <a:xfrm>
            <a:off x="4713833" y="3079700"/>
            <a:ext cx="2847315"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0"/>
                </a:solidFill>
                <a:latin typeface="IBM Plex Sans" pitchFamily="34" charset="0"/>
                <a:ea typeface="IBM Plex Sans" pitchFamily="34" charset="-122"/>
                <a:cs typeface="IBM Plex Sans" pitchFamily="34" charset="-120"/>
              </a:rPr>
              <a:t>Inspections cost staff and time. The utility cannot send someone to every one of its clients.</a:t>
            </a:r>
            <a:endParaRPr lang="en-US" sz="1400" dirty="0"/>
          </a:p>
        </p:txBody>
      </p:sp>
      <p:sp>
        <p:nvSpPr>
          <p:cNvPr id="12" name="Shape 8"/>
          <p:cNvSpPr/>
          <p:nvPr/>
        </p:nvSpPr>
        <p:spPr>
          <a:xfrm>
            <a:off x="7995741" y="1857325"/>
            <a:ext cx="3380333" cy="2303661"/>
          </a:xfrm>
          <a:prstGeom prst="roundRect">
            <a:avLst>
              <a:gd name="adj" fmla="val 5375"/>
            </a:avLst>
          </a:prstGeom>
          <a:solidFill>
            <a:srgbClr val="FCFAF5"/>
          </a:solidFill>
          <a:ln w="6350">
            <a:solidFill>
              <a:srgbClr val="E3DED3"/>
            </a:solidFill>
            <a:prstDash val="solid"/>
          </a:ln>
        </p:spPr>
      </p:sp>
      <p:pic>
        <p:nvPicPr>
          <p:cNvPr id="13" name="Image 2" descr="Search">    </p:cNvPr>
          <p:cNvPicPr>
            <a:picLocks noChangeAspect="1"/>
          </p:cNvPicPr>
          <p:nvPr/>
        </p:nvPicPr>
        <p:blipFill>
          <a:blip r:embed="rId3"/>
          <a:srcRect l="0" r="0" t="0" b="0"/>
          <a:stretch/>
        </p:blipFill>
        <p:spPr>
          <a:xfrm>
            <a:off x="8303716" y="2165300"/>
            <a:ext cx="355600" cy="355600"/>
          </a:xfrm>
          <a:prstGeom prst="rect">
            <a:avLst/>
          </a:prstGeom>
        </p:spPr>
      </p:pic>
      <p:sp>
        <p:nvSpPr>
          <p:cNvPr id="14" name="Text 9"/>
          <p:cNvSpPr/>
          <p:nvPr/>
        </p:nvSpPr>
        <p:spPr>
          <a:xfrm>
            <a:off x="8303716" y="2647900"/>
            <a:ext cx="28473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Our output</a:t>
            </a:r>
            <a:endParaRPr lang="en-US" sz="2000" dirty="0"/>
          </a:p>
        </p:txBody>
      </p:sp>
      <p:sp>
        <p:nvSpPr>
          <p:cNvPr id="15" name="Text 10"/>
          <p:cNvSpPr/>
          <p:nvPr/>
        </p:nvSpPr>
        <p:spPr>
          <a:xfrm>
            <a:off x="8303716" y="3079700"/>
            <a:ext cx="2847315"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0"/>
                </a:solidFill>
                <a:latin typeface="IBM Plex Sans" pitchFamily="34" charset="0"/>
                <a:ea typeface="IBM Plex Sans" pitchFamily="34" charset="-122"/>
                <a:cs typeface="IBM Plex Sans" pitchFamily="34" charset="-120"/>
              </a:rPr>
              <a:t>A fraud probability for every client, ranked so inspectors visit the riskiest first.</a:t>
            </a:r>
            <a:endParaRPr lang="en-US" sz="1400" dirty="0"/>
          </a:p>
        </p:txBody>
      </p:sp>
      <p:sp>
        <p:nvSpPr>
          <p:cNvPr id="16" name="Shape 11"/>
          <p:cNvSpPr/>
          <p:nvPr/>
        </p:nvSpPr>
        <p:spPr>
          <a:xfrm>
            <a:off x="812800" y="4468961"/>
            <a:ext cx="10566400" cy="655290"/>
          </a:xfrm>
          <a:prstGeom prst="roundRect">
            <a:avLst>
              <a:gd name="adj" fmla="val 19381"/>
            </a:avLst>
          </a:prstGeom>
          <a:solidFill>
            <a:srgbClr val="14202B"/>
          </a:solidFill>
          <a:ln/>
        </p:spPr>
      </p:sp>
      <p:sp>
        <p:nvSpPr>
          <p:cNvPr id="17" name="Text 12"/>
          <p:cNvSpPr/>
          <p:nvPr/>
        </p:nvSpPr>
        <p:spPr>
          <a:xfrm>
            <a:off x="1117600" y="4672161"/>
            <a:ext cx="443621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A04B"/>
                </a:solidFill>
                <a:latin typeface="IBM Plex Sans" pitchFamily="34" charset="0"/>
                <a:ea typeface="IBM Plex Sans" pitchFamily="34" charset="-122"/>
                <a:cs typeface="IBM Plex Sans" pitchFamily="34" charset="-120"/>
              </a:rPr>
              <a:t>Audience:</a:t>
            </a:r>
            <a:r>
              <a:rPr lang="en-US" sz="1400" dirty="0">
                <a:solidFill>
                  <a:srgbClr val="F6F3EC"/>
                </a:solidFill>
                <a:latin typeface="IBM Plex Sans" pitchFamily="34" charset="0"/>
                <a:ea typeface="IBM Plex Sans" pitchFamily="34" charset="-122"/>
                <a:cs typeface="IBM Plex Sans" pitchFamily="34" charset="-120"/>
              </a:rPr>
              <a:t> revenue-protection and inspection teams</a:t>
            </a:r>
            <a:endParaRPr lang="en-US" sz="1400" dirty="0"/>
          </a:p>
        </p:txBody>
      </p:sp>
      <p:sp>
        <p:nvSpPr>
          <p:cNvPr id="18" name="Text 13"/>
          <p:cNvSpPr/>
          <p:nvPr/>
        </p:nvSpPr>
        <p:spPr>
          <a:xfrm>
            <a:off x="5553819" y="4672161"/>
            <a:ext cx="364956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A04B"/>
                </a:solidFill>
                <a:latin typeface="IBM Plex Sans" pitchFamily="34" charset="0"/>
                <a:ea typeface="IBM Plex Sans" pitchFamily="34" charset="-122"/>
                <a:cs typeface="IBM Plex Sans" pitchFamily="34" charset="-120"/>
              </a:rPr>
              <a:t>Decision:</a:t>
            </a:r>
            <a:r>
              <a:rPr lang="en-US" sz="1400" dirty="0">
                <a:solidFill>
                  <a:srgbClr val="F6F3EC"/>
                </a:solidFill>
                <a:latin typeface="IBM Plex Sans" pitchFamily="34" charset="0"/>
                <a:ea typeface="IBM Plex Sans" pitchFamily="34" charset="-122"/>
                <a:cs typeface="IBM Plex Sans" pitchFamily="34" charset="-120"/>
              </a:rPr>
              <a:t> which clients to inspect next</a:t>
            </a:r>
            <a:endParaRPr lang="en-US" sz="1400" dirty="0"/>
          </a:p>
        </p:txBody>
      </p:sp>
      <p:sp>
        <p:nvSpPr>
          <p:cNvPr id="19" name="Text 14"/>
          <p:cNvSpPr/>
          <p:nvPr/>
        </p:nvSpPr>
        <p:spPr>
          <a:xfrm>
            <a:off x="812800" y="6238280"/>
            <a:ext cx="1727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Catching meter fraud</a:t>
            </a:r>
            <a:endParaRPr lang="en-US" sz="1200" dirty="0"/>
          </a:p>
        </p:txBody>
      </p:sp>
      <p:sp>
        <p:nvSpPr>
          <p:cNvPr id="20" name="Text 15"/>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02 · THE DATA</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Two tables: clients and their invoices</a:t>
            </a:r>
            <a:endParaRPr lang="en-US" sz="3200" dirty="0"/>
          </a:p>
        </p:txBody>
      </p:sp>
      <p:sp>
        <p:nvSpPr>
          <p:cNvPr id="4" name="Shape 2"/>
          <p:cNvSpPr/>
          <p:nvPr/>
        </p:nvSpPr>
        <p:spPr>
          <a:xfrm>
            <a:off x="815975" y="1857325"/>
            <a:ext cx="3959225" cy="2856111"/>
          </a:xfrm>
          <a:prstGeom prst="roundRect">
            <a:avLst>
              <a:gd name="adj" fmla="val 4335"/>
            </a:avLst>
          </a:prstGeom>
          <a:solidFill>
            <a:srgbClr val="FCFAF5"/>
          </a:solidFill>
          <a:ln w="6350">
            <a:solidFill>
              <a:srgbClr val="E3DED3"/>
            </a:solidFill>
            <a:prstDash val="solid"/>
          </a:ln>
        </p:spPr>
      </p:sp>
      <p:sp>
        <p:nvSpPr>
          <p:cNvPr id="5" name="Text 3"/>
          <p:cNvSpPr/>
          <p:nvPr/>
        </p:nvSpPr>
        <p:spPr>
          <a:xfrm>
            <a:off x="1073150" y="2114500"/>
            <a:ext cx="35482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DB5"/>
                </a:solidFill>
                <a:latin typeface="IBM Plex Sans" pitchFamily="34" charset="0"/>
                <a:ea typeface="IBM Plex Sans" pitchFamily="34" charset="-122"/>
                <a:cs typeface="IBM Plex Sans" pitchFamily="34" charset="-120"/>
              </a:rPr>
              <a:t>CLIENTS TABLE</a:t>
            </a:r>
            <a:endParaRPr lang="en-US" sz="1200" dirty="0"/>
          </a:p>
        </p:txBody>
      </p:sp>
      <p:sp>
        <p:nvSpPr>
          <p:cNvPr id="6" name="Text 4"/>
          <p:cNvSpPr/>
          <p:nvPr/>
        </p:nvSpPr>
        <p:spPr>
          <a:xfrm>
            <a:off x="1073150" y="2404021"/>
            <a:ext cx="3548221"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02B"/>
                </a:solidFill>
                <a:latin typeface="Space Grotesk" pitchFamily="34" charset="0"/>
                <a:ea typeface="Space Grotesk" pitchFamily="34" charset="-122"/>
                <a:cs typeface="Space Grotesk" pitchFamily="34" charset="-120"/>
              </a:rPr>
              <a:t>135,493</a:t>
            </a:r>
            <a:endParaRPr lang="en-US" sz="3200" dirty="0"/>
          </a:p>
        </p:txBody>
      </p:sp>
      <p:sp>
        <p:nvSpPr>
          <p:cNvPr id="7" name="Text 5"/>
          <p:cNvSpPr/>
          <p:nvPr/>
        </p:nvSpPr>
        <p:spPr>
          <a:xfrm>
            <a:off x="1073150" y="2927251"/>
            <a:ext cx="35482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rows · 6 columns · one row per client</a:t>
            </a:r>
            <a:endParaRPr lang="en-US" sz="1200" dirty="0"/>
          </a:p>
        </p:txBody>
      </p:sp>
      <p:sp>
        <p:nvSpPr>
          <p:cNvPr id="8" name="Text 6"/>
          <p:cNvSpPr/>
          <p:nvPr/>
        </p:nvSpPr>
        <p:spPr>
          <a:xfrm>
            <a:off x="1073150" y="3216771"/>
            <a:ext cx="354822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Holds the fraud label (target)</a:t>
            </a:r>
            <a:endParaRPr lang="en-US" sz="1400" dirty="0"/>
          </a:p>
        </p:txBody>
      </p:sp>
      <p:sp>
        <p:nvSpPr>
          <p:cNvPr id="9" name="Text 7"/>
          <p:cNvSpPr/>
          <p:nvPr/>
        </p:nvSpPr>
        <p:spPr>
          <a:xfrm>
            <a:off x="1073150" y="3541861"/>
            <a:ext cx="354822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0"/>
                </a:solidFill>
                <a:latin typeface="JetBrains Mono" pitchFamily="49" charset="0"/>
                <a:ea typeface="JetBrains Mono" pitchFamily="49" charset="-122"/>
                <a:cs typeface="JetBrains Mono" pitchFamily="49" charset="-120"/>
              </a:rPr>
              <a:t>district · client category · region · creation date · target</a:t>
            </a:r>
            <a:endParaRPr lang="en-US" sz="1200" dirty="0"/>
          </a:p>
        </p:txBody>
      </p:sp>
      <p:sp>
        <p:nvSpPr>
          <p:cNvPr id="10" name="Text 8"/>
          <p:cNvSpPr/>
          <p:nvPr/>
        </p:nvSpPr>
        <p:spPr>
          <a:xfrm>
            <a:off x="4913218" y="2825651"/>
            <a:ext cx="98756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client_id</a:t>
            </a:r>
            <a:endParaRPr lang="en-US" sz="1200" dirty="0"/>
          </a:p>
        </p:txBody>
      </p:sp>
      <p:pic>
        <p:nvPicPr>
          <p:cNvPr id="11" name="Image 0" descr="arrow-right">    </p:cNvPr>
          <p:cNvPicPr>
            <a:picLocks noChangeAspect="1"/>
          </p:cNvPicPr>
          <p:nvPr/>
        </p:nvPicPr>
        <p:blipFill>
          <a:blip r:embed="rId1"/>
          <a:srcRect l="0" r="0" t="0" b="0"/>
          <a:stretch/>
        </p:blipFill>
        <p:spPr>
          <a:xfrm>
            <a:off x="5057775" y="3115171"/>
            <a:ext cx="698500" cy="355600"/>
          </a:xfrm>
          <a:prstGeom prst="rect">
            <a:avLst/>
          </a:prstGeom>
        </p:spPr>
      </p:pic>
      <p:sp>
        <p:nvSpPr>
          <p:cNvPr id="12" name="Text 9"/>
          <p:cNvSpPr/>
          <p:nvPr/>
        </p:nvSpPr>
        <p:spPr>
          <a:xfrm>
            <a:off x="5000546" y="3546971"/>
            <a:ext cx="812959"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5E6873"/>
                </a:solidFill>
                <a:latin typeface="IBM Plex Sans" pitchFamily="34" charset="0"/>
                <a:ea typeface="IBM Plex Sans" pitchFamily="34" charset="-122"/>
                <a:cs typeface="IBM Plex Sans" pitchFamily="34" charset="-120"/>
              </a:rPr>
              <a:t>1 to many</a:t>
            </a:r>
            <a:endParaRPr lang="en-US" sz="1200" dirty="0"/>
          </a:p>
        </p:txBody>
      </p:sp>
      <p:sp>
        <p:nvSpPr>
          <p:cNvPr id="13" name="Shape 10"/>
          <p:cNvSpPr/>
          <p:nvPr/>
        </p:nvSpPr>
        <p:spPr>
          <a:xfrm>
            <a:off x="6038850" y="1857325"/>
            <a:ext cx="5337175" cy="2856111"/>
          </a:xfrm>
          <a:prstGeom prst="roundRect">
            <a:avLst>
              <a:gd name="adj" fmla="val 4335"/>
            </a:avLst>
          </a:prstGeom>
          <a:solidFill>
            <a:srgbClr val="FCFAF5"/>
          </a:solidFill>
          <a:ln w="6350">
            <a:solidFill>
              <a:srgbClr val="E3DED3"/>
            </a:solidFill>
            <a:prstDash val="solid"/>
          </a:ln>
        </p:spPr>
      </p:sp>
      <p:sp>
        <p:nvSpPr>
          <p:cNvPr id="14" name="Text 11"/>
          <p:cNvSpPr/>
          <p:nvPr/>
        </p:nvSpPr>
        <p:spPr>
          <a:xfrm>
            <a:off x="6296025" y="2114500"/>
            <a:ext cx="49675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DB5"/>
                </a:solidFill>
                <a:latin typeface="IBM Plex Sans" pitchFamily="34" charset="0"/>
                <a:ea typeface="IBM Plex Sans" pitchFamily="34" charset="-122"/>
                <a:cs typeface="IBM Plex Sans" pitchFamily="34" charset="-120"/>
              </a:rPr>
              <a:t>INVOICES TABLE</a:t>
            </a:r>
            <a:endParaRPr lang="en-US" sz="1200" dirty="0"/>
          </a:p>
        </p:txBody>
      </p:sp>
      <p:sp>
        <p:nvSpPr>
          <p:cNvPr id="15" name="Text 12"/>
          <p:cNvSpPr/>
          <p:nvPr/>
        </p:nvSpPr>
        <p:spPr>
          <a:xfrm>
            <a:off x="6296025" y="2404021"/>
            <a:ext cx="4967510"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02B"/>
                </a:solidFill>
                <a:latin typeface="Space Grotesk" pitchFamily="34" charset="0"/>
                <a:ea typeface="Space Grotesk" pitchFamily="34" charset="-122"/>
                <a:cs typeface="Space Grotesk" pitchFamily="34" charset="-120"/>
              </a:rPr>
              <a:t>4,476,749</a:t>
            </a:r>
            <a:endParaRPr lang="en-US" sz="3200" dirty="0"/>
          </a:p>
        </p:txBody>
      </p:sp>
      <p:sp>
        <p:nvSpPr>
          <p:cNvPr id="16" name="Text 13"/>
          <p:cNvSpPr/>
          <p:nvPr/>
        </p:nvSpPr>
        <p:spPr>
          <a:xfrm>
            <a:off x="6296025" y="2927251"/>
            <a:ext cx="4967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rows · 16 columns · one row per bill</a:t>
            </a:r>
            <a:endParaRPr lang="en-US" sz="1200" dirty="0"/>
          </a:p>
        </p:txBody>
      </p:sp>
      <p:sp>
        <p:nvSpPr>
          <p:cNvPr id="17" name="Text 14"/>
          <p:cNvSpPr/>
          <p:nvPr/>
        </p:nvSpPr>
        <p:spPr>
          <a:xfrm>
            <a:off x="6296025" y="3216771"/>
            <a:ext cx="496751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Meter readings and consumption</a:t>
            </a:r>
            <a:endParaRPr lang="en-US" sz="1400" dirty="0"/>
          </a:p>
        </p:txBody>
      </p:sp>
      <p:sp>
        <p:nvSpPr>
          <p:cNvPr id="18" name="Text 15"/>
          <p:cNvSpPr/>
          <p:nvPr/>
        </p:nvSpPr>
        <p:spPr>
          <a:xfrm>
            <a:off x="6296025" y="3541861"/>
            <a:ext cx="4967510"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0"/>
                </a:solidFill>
                <a:latin typeface="JetBrains Mono" pitchFamily="49" charset="0"/>
                <a:ea typeface="JetBrains Mono" pitchFamily="49" charset="-122"/>
                <a:cs typeface="JetBrains Mono" pitchFamily="49" charset="-120"/>
              </a:rPr>
              <a:t>invoice date · tariff type · meter number, status &amp; code · reading remark · coefficient · consumption levels 1–4 · old &amp; new index · months billed · ELEC / GAS</a:t>
            </a:r>
            <a:endParaRPr lang="en-US" sz="1200" dirty="0"/>
          </a:p>
        </p:txBody>
      </p:sp>
      <p:sp>
        <p:nvSpPr>
          <p:cNvPr id="19" name="Shape 16"/>
          <p:cNvSpPr/>
          <p:nvPr/>
        </p:nvSpPr>
        <p:spPr>
          <a:xfrm>
            <a:off x="812800" y="4919811"/>
            <a:ext cx="10566400" cy="853380"/>
          </a:xfrm>
          <a:prstGeom prst="roundRect">
            <a:avLst>
              <a:gd name="adj" fmla="val 14882"/>
            </a:avLst>
          </a:prstGeom>
          <a:solidFill>
            <a:srgbClr val="14202B"/>
          </a:solidFill>
          <a:ln/>
        </p:spPr>
      </p:sp>
      <p:sp>
        <p:nvSpPr>
          <p:cNvPr id="20" name="Text 17"/>
          <p:cNvSpPr/>
          <p:nvPr/>
        </p:nvSpPr>
        <p:spPr>
          <a:xfrm>
            <a:off x="1066800" y="5097611"/>
            <a:ext cx="507542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Every client has invoices: </a:t>
            </a:r>
            <a:r>
              <a:rPr lang="en-US" sz="1400" dirty="0">
                <a:solidFill>
                  <a:srgbClr val="F0A04B"/>
                </a:solidFill>
                <a:latin typeface="IBM Plex Sans" pitchFamily="34" charset="0"/>
                <a:ea typeface="IBM Plex Sans" pitchFamily="34" charset="-122"/>
                <a:cs typeface="IBM Plex Sans" pitchFamily="34" charset="-120"/>
              </a:rPr>
              <a:t>median 30</a:t>
            </a:r>
            <a:r>
              <a:rPr lang="en-US" sz="1400" dirty="0">
                <a:solidFill>
                  <a:srgbClr val="F6F3EC"/>
                </a:solidFill>
                <a:latin typeface="IBM Plex Sans" pitchFamily="34" charset="0"/>
                <a:ea typeface="IBM Plex Sans" pitchFamily="34" charset="-122"/>
                <a:cs typeface="IBM Plex Sans" pitchFamily="34" charset="-120"/>
              </a:rPr>
              <a:t> (min 1, max 439). We summarise them into one row per client.</a:t>
            </a:r>
            <a:endParaRPr lang="en-US" sz="1400" dirty="0"/>
          </a:p>
        </p:txBody>
      </p:sp>
      <p:sp>
        <p:nvSpPr>
          <p:cNvPr id="21" name="Text 18"/>
          <p:cNvSpPr/>
          <p:nvPr/>
        </p:nvSpPr>
        <p:spPr>
          <a:xfrm>
            <a:off x="6197600" y="5097611"/>
            <a:ext cx="507542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First hunches: </a:t>
            </a:r>
            <a:r>
              <a:rPr lang="en-US" sz="1400" dirty="0">
                <a:solidFill>
                  <a:srgbClr val="F0A04B"/>
                </a:solidFill>
                <a:latin typeface="IBM Plex Sans" pitchFamily="34" charset="0"/>
                <a:ea typeface="IBM Plex Sans" pitchFamily="34" charset="-122"/>
                <a:cs typeface="IBM Plex Sans" pitchFamily="34" charset="-120"/>
              </a:rPr>
              <a:t>where</a:t>
            </a:r>
            <a:r>
              <a:rPr lang="en-US" sz="1400" dirty="0">
                <a:solidFill>
                  <a:srgbClr val="F6F3EC"/>
                </a:solidFill>
                <a:latin typeface="IBM Plex Sans" pitchFamily="34" charset="0"/>
                <a:ea typeface="IBM Plex Sans" pitchFamily="34" charset="-122"/>
                <a:cs typeface="IBM Plex Sans" pitchFamily="34" charset="-120"/>
              </a:rPr>
              <a:t> a client lives (region) and </a:t>
            </a:r>
            <a:r>
              <a:rPr lang="en-US" sz="1400" dirty="0">
                <a:solidFill>
                  <a:srgbClr val="F0A04B"/>
                </a:solidFill>
                <a:latin typeface="IBM Plex Sans" pitchFamily="34" charset="0"/>
                <a:ea typeface="IBM Plex Sans" pitchFamily="34" charset="-122"/>
                <a:cs typeface="IBM Plex Sans" pitchFamily="34" charset="-120"/>
              </a:rPr>
              <a:t>how much</a:t>
            </a:r>
            <a:r>
              <a:rPr lang="en-US" sz="1400" dirty="0">
                <a:solidFill>
                  <a:srgbClr val="F6F3EC"/>
                </a:solidFill>
                <a:latin typeface="IBM Plex Sans" pitchFamily="34" charset="0"/>
                <a:ea typeface="IBM Plex Sans" pitchFamily="34" charset="-122"/>
                <a:cs typeface="IBM Plex Sans" pitchFamily="34" charset="-120"/>
              </a:rPr>
              <a:t> they consume.</a:t>
            </a:r>
            <a:endParaRPr lang="en-US" sz="1400" dirty="0"/>
          </a:p>
        </p:txBody>
      </p:sp>
      <p:sp>
        <p:nvSpPr>
          <p:cNvPr id="22" name="Text 19"/>
          <p:cNvSpPr/>
          <p:nvPr/>
        </p:nvSpPr>
        <p:spPr>
          <a:xfrm>
            <a:off x="812800" y="6238280"/>
            <a:ext cx="1727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Catching meter fraud</a:t>
            </a:r>
            <a:endParaRPr lang="en-US" sz="1200" dirty="0"/>
          </a:p>
        </p:txBody>
      </p:sp>
      <p:sp>
        <p:nvSpPr>
          <p:cNvPr id="23" name="Text 20"/>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03 · HOW WE MEASURE</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Fraud is rare, so we judge models by AUC</a:t>
            </a:r>
            <a:endParaRPr lang="en-US" sz="3200" dirty="0"/>
          </a:p>
        </p:txBody>
      </p:sp>
      <p:pic>
        <p:nvPicPr>
          <p:cNvPr id="4" name="Image 0" descr="Donut chart of clients: 94.4% honest, 5.6% fraud">    </p:cNvPr>
          <p:cNvPicPr>
            <a:picLocks noChangeAspect="1"/>
          </p:cNvPicPr>
          <p:nvPr/>
        </p:nvPicPr>
        <p:blipFill>
          <a:blip r:embed="rId1"/>
          <a:srcRect l="0" r="0" t="0" b="0"/>
          <a:stretch/>
        </p:blipFill>
        <p:spPr>
          <a:xfrm>
            <a:off x="812800" y="1854150"/>
            <a:ext cx="2286000" cy="2286000"/>
          </a:xfrm>
          <a:prstGeom prst="rect">
            <a:avLst/>
          </a:prstGeom>
        </p:spPr>
      </p:pic>
      <p:sp>
        <p:nvSpPr>
          <p:cNvPr id="5" name="Text 2"/>
          <p:cNvSpPr/>
          <p:nvPr/>
        </p:nvSpPr>
        <p:spPr>
          <a:xfrm>
            <a:off x="1295400" y="2743150"/>
            <a:ext cx="1320800" cy="472430"/>
          </a:xfrm>
          <a:prstGeom prst="rect">
            <a:avLst/>
          </a:prstGeom>
          <a:noFill/>
          <a:ln/>
        </p:spPr>
        <p:txBody>
          <a:bodyPr wrap="square" lIns="0" tIns="0" rIns="0" bIns="0" rtlCol="0" anchor="t">
            <a:normAutofit/>
          </a:bodyPr>
          <a:lstStyle/>
          <a:p>
            <a:pPr algn="ctr" indent="0" marL="0">
              <a:lnSpc>
                <a:spcPts val="3520"/>
              </a:lnSpc>
              <a:buNone/>
            </a:pPr>
            <a:r>
              <a:rPr lang="en-US" sz="3200" b="1" dirty="0">
                <a:solidFill>
                  <a:srgbClr val="A9520C"/>
                </a:solidFill>
                <a:latin typeface="Space Grotesk" pitchFamily="34" charset="0"/>
                <a:ea typeface="Space Grotesk" pitchFamily="34" charset="-122"/>
                <a:cs typeface="Space Grotesk" pitchFamily="34" charset="-120"/>
              </a:rPr>
              <a:t>5.6%</a:t>
            </a:r>
            <a:endParaRPr lang="en-US" sz="3200" dirty="0"/>
          </a:p>
        </p:txBody>
      </p:sp>
      <p:sp>
        <p:nvSpPr>
          <p:cNvPr id="6" name="Text 3"/>
          <p:cNvSpPr/>
          <p:nvPr/>
        </p:nvSpPr>
        <p:spPr>
          <a:xfrm>
            <a:off x="1295400" y="3213050"/>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are fraud</a:t>
            </a:r>
            <a:endParaRPr lang="en-US" sz="1200" dirty="0"/>
          </a:p>
        </p:txBody>
      </p:sp>
      <p:sp>
        <p:nvSpPr>
          <p:cNvPr id="7" name="Text 4"/>
          <p:cNvSpPr/>
          <p:nvPr/>
        </p:nvSpPr>
        <p:spPr>
          <a:xfrm>
            <a:off x="3403600" y="2313930"/>
            <a:ext cx="204523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F6DB5"/>
                </a:solidFill>
                <a:latin typeface="Space Grotesk" pitchFamily="34" charset="0"/>
                <a:ea typeface="Space Grotesk" pitchFamily="34" charset="-122"/>
                <a:cs typeface="Space Grotesk" pitchFamily="34" charset="-120"/>
              </a:rPr>
              <a:t>94.4% honest</a:t>
            </a:r>
            <a:endParaRPr lang="en-US" sz="2000" dirty="0"/>
          </a:p>
        </p:txBody>
      </p:sp>
      <p:sp>
        <p:nvSpPr>
          <p:cNvPr id="8" name="Text 5"/>
          <p:cNvSpPr/>
          <p:nvPr/>
        </p:nvSpPr>
        <p:spPr>
          <a:xfrm>
            <a:off x="3403600" y="2694930"/>
            <a:ext cx="20452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blue in the ring</a:t>
            </a:r>
            <a:endParaRPr lang="en-US" sz="1200" dirty="0"/>
          </a:p>
        </p:txBody>
      </p:sp>
      <p:sp>
        <p:nvSpPr>
          <p:cNvPr id="9" name="Text 6"/>
          <p:cNvSpPr/>
          <p:nvPr/>
        </p:nvSpPr>
        <p:spPr>
          <a:xfrm>
            <a:off x="3403600" y="3086050"/>
            <a:ext cx="204523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520C"/>
                </a:solidFill>
                <a:latin typeface="Space Grotesk" pitchFamily="34" charset="0"/>
                <a:ea typeface="Space Grotesk" pitchFamily="34" charset="-122"/>
                <a:cs typeface="Space Grotesk" pitchFamily="34" charset="-120"/>
              </a:rPr>
              <a:t>5.6% fraud</a:t>
            </a:r>
            <a:endParaRPr lang="en-US" sz="2000" dirty="0"/>
          </a:p>
        </p:txBody>
      </p:sp>
      <p:sp>
        <p:nvSpPr>
          <p:cNvPr id="10" name="Text 7"/>
          <p:cNvSpPr/>
          <p:nvPr/>
        </p:nvSpPr>
        <p:spPr>
          <a:xfrm>
            <a:off x="3403600" y="3467050"/>
            <a:ext cx="23827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orange · about 1 in 18 clients</a:t>
            </a:r>
            <a:endParaRPr lang="en-US" sz="1200" dirty="0"/>
          </a:p>
        </p:txBody>
      </p:sp>
      <p:sp>
        <p:nvSpPr>
          <p:cNvPr id="11" name="Text 8"/>
          <p:cNvSpPr/>
          <p:nvPr/>
        </p:nvSpPr>
        <p:spPr>
          <a:xfrm>
            <a:off x="812800" y="4394150"/>
            <a:ext cx="4826000" cy="921941"/>
          </a:xfrm>
          <a:prstGeom prst="roundRect">
            <a:avLst>
              <a:gd name="adj" fmla="val 13775"/>
            </a:avLst>
          </a:prstGeom>
          <a:solidFill>
            <a:srgbClr val="F3DFC8"/>
          </a:solidFill>
          <a:ln/>
        </p:spPr>
        <p:txBody>
          <a:bodyPr wrap="square" lIns="216803" tIns="166003" rIns="87263" bIns="140603" rtlCol="0" anchor="t">
            <a:normAutofit/>
          </a:bodyPr>
          <a:lstStyle/>
          <a:p>
            <a:pPr algn="l" indent="0" marL="0">
              <a:lnSpc>
                <a:spcPts val="2030"/>
              </a:lnSpc>
              <a:buNone/>
            </a:pPr>
            <a:r>
              <a:rPr lang="en-US" sz="1400" dirty="0">
                <a:solidFill>
                  <a:srgbClr val="14202B"/>
                </a:solidFill>
                <a:latin typeface="IBM Plex Sans" pitchFamily="34" charset="0"/>
                <a:ea typeface="IBM Plex Sans" pitchFamily="34" charset="-122"/>
                <a:cs typeface="IBM Plex Sans" pitchFamily="34" charset="-120"/>
              </a:rPr>
              <a:t>A model that </a:t>
            </a:r>
            <a:r>
              <a:rPr lang="en-US" sz="1400" b="1" dirty="0">
                <a:solidFill>
                  <a:srgbClr val="14202B"/>
                </a:solidFill>
                <a:latin typeface="IBM Plex Sans" pitchFamily="34" charset="0"/>
                <a:ea typeface="IBM Plex Sans" pitchFamily="34" charset="-122"/>
                <a:cs typeface="IBM Plex Sans" pitchFamily="34" charset="-120"/>
              </a:rPr>
              <a:t>never</a:t>
            </a:r>
            <a:r>
              <a:rPr lang="en-US" sz="1400" dirty="0">
                <a:solidFill>
                  <a:srgbClr val="14202B"/>
                </a:solidFill>
                <a:latin typeface="IBM Plex Sans" pitchFamily="34" charset="0"/>
                <a:ea typeface="IBM Plex Sans" pitchFamily="34" charset="-122"/>
                <a:cs typeface="IBM Plex Sans" pitchFamily="34" charset="-120"/>
              </a:rPr>
              <a:t> flags anyone is already </a:t>
            </a:r>
            <a:r>
              <a:rPr lang="en-US" sz="1400" b="1" dirty="0">
                <a:solidFill>
                  <a:srgbClr val="14202B"/>
                </a:solidFill>
                <a:latin typeface="IBM Plex Sans" pitchFamily="34" charset="0"/>
                <a:ea typeface="IBM Plex Sans" pitchFamily="34" charset="-122"/>
                <a:cs typeface="IBM Plex Sans" pitchFamily="34" charset="-120"/>
              </a:rPr>
              <a:t>94.4% accurate</a:t>
            </a:r>
            <a:r>
              <a:rPr lang="en-US" sz="1400" dirty="0">
                <a:solidFill>
                  <a:srgbClr val="14202B"/>
                </a:solidFill>
                <a:latin typeface="IBM Plex Sans" pitchFamily="34" charset="0"/>
                <a:ea typeface="IBM Plex Sans" pitchFamily="34" charset="-122"/>
                <a:cs typeface="IBM Plex Sans" pitchFamily="34" charset="-120"/>
              </a:rPr>
              <a:t>, and catches no fraud at all.</a:t>
            </a:r>
            <a:endParaRPr lang="en-US" sz="1400" dirty="0"/>
          </a:p>
        </p:txBody>
      </p:sp>
      <p:sp>
        <p:nvSpPr>
          <p:cNvPr id="12" name="Shape 9"/>
          <p:cNvSpPr/>
          <p:nvPr/>
        </p:nvSpPr>
        <p:spPr>
          <a:xfrm>
            <a:off x="6048375" y="1857325"/>
            <a:ext cx="5327650" cy="3455591"/>
          </a:xfrm>
          <a:prstGeom prst="roundRect">
            <a:avLst>
              <a:gd name="adj" fmla="val 3583"/>
            </a:avLst>
          </a:prstGeom>
          <a:solidFill>
            <a:srgbClr val="FCFAF5"/>
          </a:solidFill>
          <a:ln w="6350">
            <a:solidFill>
              <a:srgbClr val="E3DED3"/>
            </a:solidFill>
            <a:prstDash val="solid"/>
          </a:ln>
        </p:spPr>
      </p:sp>
      <p:sp>
        <p:nvSpPr>
          <p:cNvPr id="13" name="Text 10"/>
          <p:cNvSpPr/>
          <p:nvPr/>
        </p:nvSpPr>
        <p:spPr>
          <a:xfrm>
            <a:off x="6356350" y="2165300"/>
            <a:ext cx="485305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AUC, in plain words</a:t>
            </a:r>
            <a:endParaRPr lang="en-US" sz="2000" dirty="0"/>
          </a:p>
        </p:txBody>
      </p:sp>
      <p:sp>
        <p:nvSpPr>
          <p:cNvPr id="14" name="Text 11"/>
          <p:cNvSpPr/>
          <p:nvPr/>
        </p:nvSpPr>
        <p:spPr>
          <a:xfrm>
            <a:off x="6356350" y="2647900"/>
            <a:ext cx="4853051"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0"/>
                </a:solidFill>
                <a:latin typeface="IBM Plex Sans" pitchFamily="34" charset="0"/>
                <a:ea typeface="IBM Plex Sans" pitchFamily="34" charset="-122"/>
                <a:cs typeface="IBM Plex Sans" pitchFamily="34" charset="-120"/>
              </a:rPr>
              <a:t>Pick one fraud client and one honest client at random. AUC is the chance that the model gives the fraud client the higher risk score.</a:t>
            </a:r>
            <a:endParaRPr lang="en-US" sz="1400" dirty="0"/>
          </a:p>
        </p:txBody>
      </p:sp>
      <p:sp>
        <p:nvSpPr>
          <p:cNvPr id="15" name="Shape 12"/>
          <p:cNvSpPr/>
          <p:nvPr/>
        </p:nvSpPr>
        <p:spPr>
          <a:xfrm>
            <a:off x="6356350" y="3599011"/>
            <a:ext cx="4711700" cy="177800"/>
          </a:xfrm>
          <a:prstGeom prst="roundRect">
            <a:avLst>
              <a:gd name="adj" fmla="val 50000"/>
            </a:avLst>
          </a:prstGeom>
          <a:gradFill rotWithShape="1">
            <a:gsLst>
              <a:gs pos="0">
                <a:srgbClr val="C9D1D8"/>
              </a:gs>
              <a:gs pos="100000">
                <a:srgbClr val="2F6DB5"/>
              </a:gs>
            </a:gsLst>
            <a:lin ang="0" scaled="0"/>
          </a:gradFill>
          <a:ln/>
        </p:spPr>
      </p:sp>
      <p:sp>
        <p:nvSpPr>
          <p:cNvPr id="16" name="Text 13"/>
          <p:cNvSpPr/>
          <p:nvPr/>
        </p:nvSpPr>
        <p:spPr>
          <a:xfrm>
            <a:off x="6356350" y="3853011"/>
            <a:ext cx="9641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0"/>
                </a:solidFill>
                <a:latin typeface="IBM Plex Sans" pitchFamily="34" charset="0"/>
                <a:ea typeface="IBM Plex Sans" pitchFamily="34" charset="-122"/>
                <a:cs typeface="IBM Plex Sans" pitchFamily="34" charset="-120"/>
              </a:rPr>
              <a:t>0.5</a:t>
            </a:r>
            <a:r>
              <a:rPr lang="en-US" sz="1200" dirty="0">
                <a:solidFill>
                  <a:srgbClr val="4A5560"/>
                </a:solidFill>
                <a:latin typeface="IBM Plex Sans" pitchFamily="34" charset="0"/>
                <a:ea typeface="IBM Plex Sans" pitchFamily="34" charset="-122"/>
                <a:cs typeface="IBM Plex Sans" pitchFamily="34" charset="-120"/>
              </a:rPr>
              <a:t> coin flip</a:t>
            </a:r>
            <a:endParaRPr lang="en-US" sz="1200" dirty="0"/>
          </a:p>
        </p:txBody>
      </p:sp>
      <p:sp>
        <p:nvSpPr>
          <p:cNvPr id="17" name="Text 14"/>
          <p:cNvSpPr/>
          <p:nvPr/>
        </p:nvSpPr>
        <p:spPr>
          <a:xfrm>
            <a:off x="9507676" y="3853011"/>
            <a:ext cx="1560374"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4A5560"/>
                </a:solidFill>
                <a:latin typeface="IBM Plex Sans" pitchFamily="34" charset="0"/>
                <a:ea typeface="IBM Plex Sans" pitchFamily="34" charset="-122"/>
                <a:cs typeface="IBM Plex Sans" pitchFamily="34" charset="-120"/>
              </a:rPr>
              <a:t>1.0</a:t>
            </a:r>
            <a:r>
              <a:rPr lang="en-US" sz="1200" dirty="0">
                <a:solidFill>
                  <a:srgbClr val="4A5560"/>
                </a:solidFill>
                <a:latin typeface="IBM Plex Sans" pitchFamily="34" charset="0"/>
                <a:ea typeface="IBM Plex Sans" pitchFamily="34" charset="-122"/>
                <a:cs typeface="IBM Plex Sans" pitchFamily="34" charset="-120"/>
              </a:rPr>
              <a:t> perfect ranking</a:t>
            </a:r>
            <a:endParaRPr lang="en-US" sz="1200" dirty="0"/>
          </a:p>
        </p:txBody>
      </p:sp>
      <p:sp>
        <p:nvSpPr>
          <p:cNvPr id="18" name="Text 15"/>
          <p:cNvSpPr/>
          <p:nvPr/>
        </p:nvSpPr>
        <p:spPr>
          <a:xfrm>
            <a:off x="6356350" y="4244132"/>
            <a:ext cx="4853051"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02B"/>
                </a:solidFill>
                <a:latin typeface="IBM Plex Sans" pitchFamily="34" charset="0"/>
                <a:ea typeface="IBM Plex Sans" pitchFamily="34" charset="-122"/>
                <a:cs typeface="IBM Plex Sans" pitchFamily="34" charset="-120"/>
              </a:rPr>
              <a:t>It rewards putting risky clients first, which is exactly what an inspection list needs.</a:t>
            </a:r>
            <a:endParaRPr lang="en-US" sz="1400" dirty="0"/>
          </a:p>
        </p:txBody>
      </p:sp>
      <p:sp>
        <p:nvSpPr>
          <p:cNvPr id="19" name="Text 16"/>
          <p:cNvSpPr/>
          <p:nvPr/>
        </p:nvSpPr>
        <p:spPr>
          <a:xfrm>
            <a:off x="812800" y="6238280"/>
            <a:ext cx="1727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Catching meter fraud</a:t>
            </a:r>
            <a:endParaRPr lang="en-US" sz="1200" dirty="0"/>
          </a:p>
        </p:txBody>
      </p:sp>
      <p:sp>
        <p:nvSpPr>
          <p:cNvPr id="20" name="Text 17"/>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04 · BASELINE AND ATTEMPT 1</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Tuning the baseline barely moved the score</a:t>
            </a:r>
            <a:endParaRPr lang="en-US" sz="3200" dirty="0"/>
          </a:p>
        </p:txBody>
      </p:sp>
      <p:sp>
        <p:nvSpPr>
          <p:cNvPr id="4" name="Shape 2"/>
          <p:cNvSpPr/>
          <p:nvPr/>
        </p:nvSpPr>
        <p:spPr>
          <a:xfrm>
            <a:off x="815975" y="1857325"/>
            <a:ext cx="4845050" cy="2904331"/>
          </a:xfrm>
          <a:prstGeom prst="roundRect">
            <a:avLst>
              <a:gd name="adj" fmla="val 4263"/>
            </a:avLst>
          </a:prstGeom>
          <a:solidFill>
            <a:srgbClr val="FCFAF5"/>
          </a:solidFill>
          <a:ln w="6350">
            <a:solidFill>
              <a:srgbClr val="E3DED3"/>
            </a:solidFill>
            <a:prstDash val="solid"/>
          </a:ln>
        </p:spPr>
      </p:sp>
      <p:sp>
        <p:nvSpPr>
          <p:cNvPr id="5" name="Text 3"/>
          <p:cNvSpPr/>
          <p:nvPr/>
        </p:nvSpPr>
        <p:spPr>
          <a:xfrm>
            <a:off x="1073150" y="2114500"/>
            <a:ext cx="44606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DB5"/>
                </a:solidFill>
                <a:latin typeface="IBM Plex Sans" pitchFamily="34" charset="0"/>
                <a:ea typeface="IBM Plex Sans" pitchFamily="34" charset="-122"/>
                <a:cs typeface="IBM Plex Sans" pitchFamily="34" charset="-120"/>
              </a:rPr>
              <a:t>BASELINE · LIGHTGBM</a:t>
            </a:r>
            <a:endParaRPr lang="en-US" sz="1200" dirty="0"/>
          </a:p>
        </p:txBody>
      </p:sp>
      <p:sp>
        <p:nvSpPr>
          <p:cNvPr id="6" name="Text 4"/>
          <p:cNvSpPr/>
          <p:nvPr/>
        </p:nvSpPr>
        <p:spPr>
          <a:xfrm>
            <a:off x="1073150" y="2404021"/>
            <a:ext cx="446062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Raw data, default settings</a:t>
            </a:r>
            <a:endParaRPr lang="en-US" sz="2000" dirty="0"/>
          </a:p>
        </p:txBody>
      </p:sp>
      <p:sp>
        <p:nvSpPr>
          <p:cNvPr id="7" name="Text 5"/>
          <p:cNvSpPr/>
          <p:nvPr/>
        </p:nvSpPr>
        <p:spPr>
          <a:xfrm>
            <a:off x="1073150" y="2785021"/>
            <a:ext cx="446062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F6DB5"/>
                </a:solidFill>
                <a:latin typeface="Space Grotesk" pitchFamily="34" charset="0"/>
                <a:ea typeface="Space Grotesk" pitchFamily="34" charset="-122"/>
                <a:cs typeface="Space Grotesk" pitchFamily="34" charset="-120"/>
              </a:rPr>
              <a:t>0.796</a:t>
            </a:r>
            <a:endParaRPr lang="en-US" sz="6000" dirty="0"/>
          </a:p>
        </p:txBody>
      </p:sp>
      <p:sp>
        <p:nvSpPr>
          <p:cNvPr id="8" name="Text 6"/>
          <p:cNvSpPr/>
          <p:nvPr/>
        </p:nvSpPr>
        <p:spPr>
          <a:xfrm>
            <a:off x="1073150" y="3699421"/>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test AUC · train AUC 0.872</a:t>
            </a:r>
            <a:endParaRPr lang="en-US" sz="1200" dirty="0"/>
          </a:p>
        </p:txBody>
      </p:sp>
      <p:sp>
        <p:nvSpPr>
          <p:cNvPr id="9" name="Text 7"/>
          <p:cNvSpPr/>
          <p:nvPr/>
        </p:nvSpPr>
        <p:spPr>
          <a:xfrm>
            <a:off x="1073150" y="3988941"/>
            <a:ext cx="4460621"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0"/>
                </a:solidFill>
                <a:latin typeface="IBM Plex Sans" pitchFamily="34" charset="0"/>
                <a:ea typeface="IBM Plex Sans" pitchFamily="34" charset="-122"/>
                <a:cs typeface="IBM Plex Sans" pitchFamily="34" charset="-120"/>
              </a:rPr>
              <a:t>Client columns plus each invoice column averaged per client: the number to beat.</a:t>
            </a:r>
            <a:endParaRPr lang="en-US" sz="1400" dirty="0"/>
          </a:p>
        </p:txBody>
      </p:sp>
      <p:pic>
        <p:nvPicPr>
          <p:cNvPr id="10" name="Image 0" descr="arrow-right">    </p:cNvPr>
          <p:cNvPicPr>
            <a:picLocks noChangeAspect="1"/>
          </p:cNvPicPr>
          <p:nvPr/>
        </p:nvPicPr>
        <p:blipFill>
          <a:blip r:embed="rId1"/>
          <a:srcRect l="0" r="0" t="0" b="0"/>
          <a:stretch/>
        </p:blipFill>
        <p:spPr>
          <a:xfrm>
            <a:off x="5867400" y="3195191"/>
            <a:ext cx="457200" cy="228600"/>
          </a:xfrm>
          <a:prstGeom prst="rect">
            <a:avLst/>
          </a:prstGeom>
        </p:spPr>
      </p:pic>
      <p:sp>
        <p:nvSpPr>
          <p:cNvPr id="11" name="Shape 8"/>
          <p:cNvSpPr/>
          <p:nvPr/>
        </p:nvSpPr>
        <p:spPr>
          <a:xfrm>
            <a:off x="6530975" y="1857325"/>
            <a:ext cx="4845050" cy="2904331"/>
          </a:xfrm>
          <a:prstGeom prst="roundRect">
            <a:avLst>
              <a:gd name="adj" fmla="val 4263"/>
            </a:avLst>
          </a:prstGeom>
          <a:solidFill>
            <a:srgbClr val="FCFAF5"/>
          </a:solidFill>
          <a:ln w="6350">
            <a:solidFill>
              <a:srgbClr val="E3DED3"/>
            </a:solidFill>
            <a:prstDash val="solid"/>
          </a:ln>
        </p:spPr>
      </p:sp>
      <p:sp>
        <p:nvSpPr>
          <p:cNvPr id="12" name="Text 9"/>
          <p:cNvSpPr/>
          <p:nvPr/>
        </p:nvSpPr>
        <p:spPr>
          <a:xfrm>
            <a:off x="6788150" y="2114500"/>
            <a:ext cx="44606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DB5"/>
                </a:solidFill>
                <a:latin typeface="IBM Plex Sans" pitchFamily="34" charset="0"/>
                <a:ea typeface="IBM Plex Sans" pitchFamily="34" charset="-122"/>
                <a:cs typeface="IBM Plex Sans" pitchFamily="34" charset="-120"/>
              </a:rPr>
              <a:t>ATTEMPT 1 · TUNING</a:t>
            </a:r>
            <a:endParaRPr lang="en-US" sz="1200" dirty="0"/>
          </a:p>
        </p:txBody>
      </p:sp>
      <p:sp>
        <p:nvSpPr>
          <p:cNvPr id="13" name="Text 10"/>
          <p:cNvSpPr/>
          <p:nvPr/>
        </p:nvSpPr>
        <p:spPr>
          <a:xfrm>
            <a:off x="6788150" y="2404021"/>
            <a:ext cx="446062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A grid of 36 combinations</a:t>
            </a:r>
            <a:endParaRPr lang="en-US" sz="2000" dirty="0"/>
          </a:p>
        </p:txBody>
      </p:sp>
      <p:sp>
        <p:nvSpPr>
          <p:cNvPr id="14" name="Text 11"/>
          <p:cNvSpPr/>
          <p:nvPr/>
        </p:nvSpPr>
        <p:spPr>
          <a:xfrm>
            <a:off x="6788150" y="2785021"/>
            <a:ext cx="446062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F6DB5"/>
                </a:solidFill>
                <a:latin typeface="Space Grotesk" pitchFamily="34" charset="0"/>
                <a:ea typeface="Space Grotesk" pitchFamily="34" charset="-122"/>
                <a:cs typeface="Space Grotesk" pitchFamily="34" charset="-120"/>
              </a:rPr>
              <a:t>0.797</a:t>
            </a:r>
            <a:endParaRPr lang="en-US" sz="6000" dirty="0"/>
          </a:p>
        </p:txBody>
      </p:sp>
      <p:sp>
        <p:nvSpPr>
          <p:cNvPr id="15" name="Text 12"/>
          <p:cNvSpPr/>
          <p:nvPr/>
        </p:nvSpPr>
        <p:spPr>
          <a:xfrm>
            <a:off x="6788150" y="3699421"/>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test AUC, +0.0004 · train AUC 0.871</a:t>
            </a:r>
            <a:endParaRPr lang="en-US" sz="1200" dirty="0"/>
          </a:p>
        </p:txBody>
      </p:sp>
      <p:sp>
        <p:nvSpPr>
          <p:cNvPr id="16" name="Text 13"/>
          <p:cNvSpPr/>
          <p:nvPr/>
        </p:nvSpPr>
        <p:spPr>
          <a:xfrm>
            <a:off x="6788150" y="3988941"/>
            <a:ext cx="4460621"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0"/>
                </a:solidFill>
                <a:latin typeface="IBM Plex Sans" pitchFamily="34" charset="0"/>
                <a:ea typeface="IBM Plex Sans" pitchFamily="34" charset="-122"/>
                <a:cs typeface="IBM Plex Sans" pitchFamily="34" charset="-120"/>
              </a:rPr>
              <a:t>Best (3-fold CV): learning rate 0.1 and 100 trees, LightGBM’s own defaults.</a:t>
            </a:r>
            <a:endParaRPr lang="en-US" sz="1400" dirty="0"/>
          </a:p>
        </p:txBody>
      </p:sp>
      <p:sp>
        <p:nvSpPr>
          <p:cNvPr id="17" name="Text 14"/>
          <p:cNvSpPr/>
          <p:nvPr/>
        </p:nvSpPr>
        <p:spPr>
          <a:xfrm>
            <a:off x="812800" y="4968032"/>
            <a:ext cx="10566400" cy="604490"/>
          </a:xfrm>
          <a:prstGeom prst="roundRect">
            <a:avLst>
              <a:gd name="adj" fmla="val 21009"/>
            </a:avLst>
          </a:prstGeom>
          <a:solidFill>
            <a:srgbClr val="14202B"/>
          </a:solidFill>
          <a:ln/>
        </p:spPr>
        <p:txBody>
          <a:bodyPr wrap="square" lIns="216803" tIns="140603" rIns="216803" bIns="115203"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The settings were not the bottleneck; the inputs were. </a:t>
            </a:r>
            <a:r>
              <a:rPr lang="en-US" sz="1400" dirty="0">
                <a:solidFill>
                  <a:srgbClr val="F0A04B"/>
                </a:solidFill>
                <a:latin typeface="IBM Plex Sans" pitchFamily="34" charset="0"/>
                <a:ea typeface="IBM Plex Sans" pitchFamily="34" charset="-122"/>
                <a:cs typeface="IBM Plex Sans" pitchFamily="34" charset="-120"/>
              </a:rPr>
              <a:t>So we turned to feature engineering.</a:t>
            </a:r>
            <a:endParaRPr lang="en-US" sz="1400" dirty="0"/>
          </a:p>
        </p:txBody>
      </p:sp>
      <p:sp>
        <p:nvSpPr>
          <p:cNvPr id="18" name="Text 15"/>
          <p:cNvSpPr/>
          <p:nvPr/>
        </p:nvSpPr>
        <p:spPr>
          <a:xfrm>
            <a:off x="812800" y="6238280"/>
            <a:ext cx="62296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All models scored on the same hold-out set: 33,874 clients (25%, stratified)</a:t>
            </a:r>
            <a:endParaRPr lang="en-US" sz="1200" dirty="0"/>
          </a:p>
        </p:txBody>
      </p:sp>
      <p:sp>
        <p:nvSpPr>
          <p:cNvPr id="19" name="Text 16"/>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892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02B"/>
                </a:solidFill>
                <a:latin typeface="IBM Plex Sans" pitchFamily="34" charset="0"/>
                <a:ea typeface="IBM Plex Sans" pitchFamily="34" charset="-122"/>
                <a:cs typeface="IBM Plex Sans" pitchFamily="34" charset="-120"/>
              </a:rPr>
              <a:t>ATTEMPT 2 · FEATURE ENGINEERING</a:t>
            </a:r>
            <a:endParaRPr lang="en-US" sz="1200" dirty="0"/>
          </a:p>
        </p:txBody>
      </p:sp>
      <p:sp>
        <p:nvSpPr>
          <p:cNvPr id="3" name="Text 1"/>
          <p:cNvSpPr/>
          <p:nvPr>
            <p:ph type="title"/>
          </p:nvPr>
        </p:nvSpPr>
        <p:spPr>
          <a:xfrm>
            <a:off x="812800" y="2212429"/>
            <a:ext cx="9810750"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Space Grotesk" pitchFamily="34" charset="0"/>
                <a:ea typeface="Space Grotesk" pitchFamily="34" charset="-122"/>
                <a:cs typeface="Space Grotesk" pitchFamily="34" charset="-120"/>
              </a:rPr>
              <a:t>Fraudsters tamper with meters, so we stopped looking at levels and started looking at change.</a:t>
            </a:r>
            <a:endParaRPr lang="en-US" sz="3200" dirty="0"/>
          </a:p>
        </p:txBody>
      </p:sp>
      <p:sp>
        <p:nvSpPr>
          <p:cNvPr id="4" name="Shape 2"/>
          <p:cNvSpPr/>
          <p:nvPr/>
        </p:nvSpPr>
        <p:spPr>
          <a:xfrm>
            <a:off x="812800" y="4333379"/>
            <a:ext cx="2489200" cy="1711821"/>
          </a:xfrm>
          <a:prstGeom prst="roundRect">
            <a:avLst>
              <a:gd name="adj" fmla="val 7419"/>
            </a:avLst>
          </a:prstGeom>
          <a:solidFill>
            <a:srgbClr val="14202B"/>
          </a:solidFill>
          <a:ln/>
        </p:spPr>
      </p:sp>
      <p:sp>
        <p:nvSpPr>
          <p:cNvPr id="5" name="Text 3"/>
          <p:cNvSpPr/>
          <p:nvPr/>
        </p:nvSpPr>
        <p:spPr>
          <a:xfrm>
            <a:off x="1041400" y="4561979"/>
            <a:ext cx="20929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4B"/>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41400" y="4851499"/>
            <a:ext cx="209296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Space Grotesk" pitchFamily="34" charset="0"/>
                <a:ea typeface="Space Grotesk" pitchFamily="34" charset="-122"/>
                <a:cs typeface="Space Grotesk" pitchFamily="34" charset="-120"/>
              </a:rPr>
              <a:t>Reading remark</a:t>
            </a:r>
            <a:endParaRPr lang="en-US" sz="1400" dirty="0"/>
          </a:p>
        </p:txBody>
      </p:sp>
      <p:sp>
        <p:nvSpPr>
          <p:cNvPr id="7" name="Text 5"/>
          <p:cNvSpPr/>
          <p:nvPr/>
        </p:nvSpPr>
        <p:spPr>
          <a:xfrm>
            <a:off x="1041400" y="5158829"/>
            <a:ext cx="2092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6"/>
                </a:solidFill>
                <a:latin typeface="IBM Plex Sans" pitchFamily="34" charset="0"/>
                <a:ea typeface="IBM Plex Sans" pitchFamily="34" charset="-122"/>
                <a:cs typeface="IBM Plex Sans" pitchFamily="34" charset="-120"/>
              </a:rPr>
              <a:t>The meter reader’s code, used as it comes</a:t>
            </a:r>
            <a:endParaRPr lang="en-US" sz="1200" dirty="0"/>
          </a:p>
        </p:txBody>
      </p:sp>
      <p:sp>
        <p:nvSpPr>
          <p:cNvPr id="8" name="Shape 6"/>
          <p:cNvSpPr/>
          <p:nvPr/>
        </p:nvSpPr>
        <p:spPr>
          <a:xfrm>
            <a:off x="3505200" y="4333379"/>
            <a:ext cx="2489200" cy="1711821"/>
          </a:xfrm>
          <a:prstGeom prst="roundRect">
            <a:avLst>
              <a:gd name="adj" fmla="val 7419"/>
            </a:avLst>
          </a:prstGeom>
          <a:solidFill>
            <a:srgbClr val="14202B"/>
          </a:solidFill>
          <a:ln/>
        </p:spPr>
      </p:sp>
      <p:sp>
        <p:nvSpPr>
          <p:cNvPr id="9" name="Text 7"/>
          <p:cNvSpPr/>
          <p:nvPr/>
        </p:nvSpPr>
        <p:spPr>
          <a:xfrm>
            <a:off x="3733800" y="4561979"/>
            <a:ext cx="20929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4B"/>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3733800" y="4851499"/>
            <a:ext cx="209296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Space Grotesk" pitchFamily="34" charset="0"/>
                <a:ea typeface="Space Grotesk" pitchFamily="34" charset="-122"/>
                <a:cs typeface="Space Grotesk" pitchFamily="34" charset="-120"/>
              </a:rPr>
              <a:t>Tariff switches</a:t>
            </a:r>
            <a:endParaRPr lang="en-US" sz="1400" dirty="0"/>
          </a:p>
        </p:txBody>
      </p:sp>
      <p:sp>
        <p:nvSpPr>
          <p:cNvPr id="11" name="Text 9"/>
          <p:cNvSpPr/>
          <p:nvPr/>
        </p:nvSpPr>
        <p:spPr>
          <a:xfrm>
            <a:off x="3733800" y="5158829"/>
            <a:ext cx="2092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6"/>
                </a:solidFill>
                <a:latin typeface="IBM Plex Sans" pitchFamily="34" charset="0"/>
                <a:ea typeface="IBM Plex Sans" pitchFamily="34" charset="-122"/>
                <a:cs typeface="IBM Plex Sans" pitchFamily="34" charset="-120"/>
              </a:rPr>
              <a:t>How many tariff types a client has had</a:t>
            </a:r>
            <a:endParaRPr lang="en-US" sz="1200" dirty="0"/>
          </a:p>
        </p:txBody>
      </p:sp>
      <p:sp>
        <p:nvSpPr>
          <p:cNvPr id="12" name="Shape 10"/>
          <p:cNvSpPr/>
          <p:nvPr/>
        </p:nvSpPr>
        <p:spPr>
          <a:xfrm>
            <a:off x="6197600" y="4333379"/>
            <a:ext cx="2489200" cy="1711821"/>
          </a:xfrm>
          <a:prstGeom prst="roundRect">
            <a:avLst>
              <a:gd name="adj" fmla="val 7419"/>
            </a:avLst>
          </a:prstGeom>
          <a:solidFill>
            <a:srgbClr val="14202B"/>
          </a:solidFill>
          <a:ln/>
        </p:spPr>
      </p:sp>
      <p:sp>
        <p:nvSpPr>
          <p:cNvPr id="13" name="Text 11"/>
          <p:cNvSpPr/>
          <p:nvPr/>
        </p:nvSpPr>
        <p:spPr>
          <a:xfrm>
            <a:off x="6426200" y="4561979"/>
            <a:ext cx="20929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4B"/>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6426200" y="4851499"/>
            <a:ext cx="209296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Space Grotesk" pitchFamily="34" charset="0"/>
                <a:ea typeface="Space Grotesk" pitchFamily="34" charset="-122"/>
                <a:cs typeface="Space Grotesk" pitchFamily="34" charset="-120"/>
              </a:rPr>
              <a:t>Meter running backwards</a:t>
            </a:r>
            <a:endParaRPr lang="en-US" sz="1400" dirty="0"/>
          </a:p>
        </p:txBody>
      </p:sp>
      <p:sp>
        <p:nvSpPr>
          <p:cNvPr id="15" name="Text 13"/>
          <p:cNvSpPr/>
          <p:nvPr/>
        </p:nvSpPr>
        <p:spPr>
          <a:xfrm>
            <a:off x="6426200" y="5389959"/>
            <a:ext cx="2092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6"/>
                </a:solidFill>
                <a:latin typeface="IBM Plex Sans" pitchFamily="34" charset="0"/>
                <a:ea typeface="IBM Plex Sans" pitchFamily="34" charset="-122"/>
                <a:cs typeface="IBM Plex Sans" pitchFamily="34" charset="-120"/>
              </a:rPr>
              <a:t>A new reading lower than the old one</a:t>
            </a:r>
            <a:endParaRPr lang="en-US" sz="1200" dirty="0"/>
          </a:p>
        </p:txBody>
      </p:sp>
      <p:sp>
        <p:nvSpPr>
          <p:cNvPr id="16" name="Shape 14"/>
          <p:cNvSpPr/>
          <p:nvPr/>
        </p:nvSpPr>
        <p:spPr>
          <a:xfrm>
            <a:off x="8890000" y="4333379"/>
            <a:ext cx="2489200" cy="1711821"/>
          </a:xfrm>
          <a:prstGeom prst="roundRect">
            <a:avLst>
              <a:gd name="adj" fmla="val 7419"/>
            </a:avLst>
          </a:prstGeom>
          <a:solidFill>
            <a:srgbClr val="14202B"/>
          </a:solidFill>
          <a:ln/>
        </p:spPr>
      </p:sp>
      <p:sp>
        <p:nvSpPr>
          <p:cNvPr id="17" name="Text 15"/>
          <p:cNvSpPr/>
          <p:nvPr/>
        </p:nvSpPr>
        <p:spPr>
          <a:xfrm>
            <a:off x="9118600" y="4561979"/>
            <a:ext cx="20929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4B"/>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9118600" y="4851499"/>
            <a:ext cx="209296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Space Grotesk" pitchFamily="34" charset="0"/>
                <a:ea typeface="Space Grotesk" pitchFamily="34" charset="-122"/>
                <a:cs typeface="Space Grotesk" pitchFamily="34" charset="-120"/>
              </a:rPr>
              <a:t>Consumption pattern</a:t>
            </a:r>
            <a:endParaRPr lang="en-US" sz="1400" dirty="0"/>
          </a:p>
        </p:txBody>
      </p:sp>
      <p:sp>
        <p:nvSpPr>
          <p:cNvPr id="19" name="Text 17"/>
          <p:cNvSpPr/>
          <p:nvPr/>
        </p:nvSpPr>
        <p:spPr>
          <a:xfrm>
            <a:off x="9118600" y="5158829"/>
            <a:ext cx="20929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6"/>
                </a:solidFill>
                <a:latin typeface="IBM Plex Sans" pitchFamily="34" charset="0"/>
                <a:ea typeface="IBM Plex Sans" pitchFamily="34" charset="-122"/>
                <a:cs typeface="IBM Plex Sans" pitchFamily="34" charset="-120"/>
              </a:rPr>
              <a:t>Zero bills, and drops over time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SIGNAL 1 · RAW COLUMN, USED AS IT COMES</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Reading remarks already separate risk</a:t>
            </a:r>
            <a:endParaRPr lang="en-US" sz="3200" dirty="0"/>
          </a:p>
        </p:txBody>
      </p:sp>
      <p:sp>
        <p:nvSpPr>
          <p:cNvPr id="4" name="Text 2"/>
          <p:cNvSpPr/>
          <p:nvPr/>
        </p:nvSpPr>
        <p:spPr>
          <a:xfrm>
            <a:off x="812800" y="185415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Fraud rate among clients with at least one invoice carrying the remark code</a:t>
            </a:r>
            <a:endParaRPr lang="en-US" sz="1200" dirty="0"/>
          </a:p>
        </p:txBody>
      </p:sp>
      <p:sp>
        <p:nvSpPr>
          <p:cNvPr id="5" name="Text 3"/>
          <p:cNvSpPr/>
          <p:nvPr/>
        </p:nvSpPr>
        <p:spPr>
          <a:xfrm>
            <a:off x="812800" y="2245271"/>
            <a:ext cx="1447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Code 8</a:t>
            </a:r>
            <a:endParaRPr lang="en-US" sz="1400" dirty="0"/>
          </a:p>
        </p:txBody>
      </p:sp>
      <p:sp>
        <p:nvSpPr>
          <p:cNvPr id="6" name="Text 4"/>
          <p:cNvSpPr/>
          <p:nvPr/>
        </p:nvSpPr>
        <p:spPr>
          <a:xfrm>
            <a:off x="812800" y="251956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95,591 clients</a:t>
            </a:r>
            <a:endParaRPr lang="en-US" sz="1200" dirty="0"/>
          </a:p>
        </p:txBody>
      </p:sp>
      <p:sp>
        <p:nvSpPr>
          <p:cNvPr id="7" name="Shape 5"/>
          <p:cNvSpPr/>
          <p:nvPr/>
        </p:nvSpPr>
        <p:spPr>
          <a:xfrm>
            <a:off x="2362200" y="2311251"/>
            <a:ext cx="4051300" cy="355600"/>
          </a:xfrm>
          <a:custGeom>
            <a:avLst/>
            <a:gdLst/>
            <a:ahLst/>
            <a:cxnLst/>
            <a:rect l="l" t="t" r="r" b="b"/>
            <a:pathLst>
              <a:path w="4051300" h="355600">
                <a:moveTo>
                  <a:pt x="0" y="0"/>
                </a:moveTo>
                <a:lnTo>
                  <a:pt x="4000500" y="0"/>
                </a:lnTo>
                <a:arcTo hR="50800" wR="50800" stAng="16200000" swAng="5400000"/>
                <a:lnTo>
                  <a:pt x="4051300" y="304800"/>
                </a:lnTo>
                <a:arcTo hR="50800" wR="50800" stAng="0" swAng="5400000"/>
                <a:lnTo>
                  <a:pt x="0" y="355600"/>
                </a:lnTo>
                <a:lnTo>
                  <a:pt x="0" y="0"/>
                </a:lnTo>
                <a:close/>
              </a:path>
            </a:pathLst>
          </a:custGeom>
          <a:solidFill>
            <a:srgbClr val="E8892F"/>
          </a:solidFill>
          <a:ln/>
        </p:spPr>
      </p:sp>
      <p:sp>
        <p:nvSpPr>
          <p:cNvPr id="8" name="Text 6"/>
          <p:cNvSpPr/>
          <p:nvPr/>
        </p:nvSpPr>
        <p:spPr>
          <a:xfrm>
            <a:off x="6515100" y="2364581"/>
            <a:ext cx="65270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7.25%</a:t>
            </a:r>
            <a:endParaRPr lang="en-US" sz="1400" dirty="0"/>
          </a:p>
        </p:txBody>
      </p:sp>
      <p:sp>
        <p:nvSpPr>
          <p:cNvPr id="9" name="Text 7"/>
          <p:cNvSpPr/>
          <p:nvPr/>
        </p:nvSpPr>
        <p:spPr>
          <a:xfrm>
            <a:off x="812800" y="2885281"/>
            <a:ext cx="1447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Code 9</a:t>
            </a:r>
            <a:endParaRPr lang="en-US" sz="1400" dirty="0"/>
          </a:p>
        </p:txBody>
      </p:sp>
      <p:sp>
        <p:nvSpPr>
          <p:cNvPr id="10" name="Text 8"/>
          <p:cNvSpPr/>
          <p:nvPr/>
        </p:nvSpPr>
        <p:spPr>
          <a:xfrm>
            <a:off x="812800" y="315957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116,596 clients</a:t>
            </a:r>
            <a:endParaRPr lang="en-US" sz="1200" dirty="0"/>
          </a:p>
        </p:txBody>
      </p:sp>
      <p:sp>
        <p:nvSpPr>
          <p:cNvPr id="11" name="Shape 9"/>
          <p:cNvSpPr/>
          <p:nvPr/>
        </p:nvSpPr>
        <p:spPr>
          <a:xfrm>
            <a:off x="2362200" y="2951262"/>
            <a:ext cx="3562350" cy="355600"/>
          </a:xfrm>
          <a:custGeom>
            <a:avLst/>
            <a:gdLst/>
            <a:ahLst/>
            <a:cxnLst/>
            <a:rect l="l" t="t" r="r" b="b"/>
            <a:pathLst>
              <a:path w="3562350" h="355600">
                <a:moveTo>
                  <a:pt x="0" y="0"/>
                </a:moveTo>
                <a:lnTo>
                  <a:pt x="3511550" y="0"/>
                </a:lnTo>
                <a:arcTo hR="50800" wR="50800" stAng="16200000" swAng="5400000"/>
                <a:lnTo>
                  <a:pt x="3562350" y="304800"/>
                </a:lnTo>
                <a:arcTo hR="50800" wR="50800" stAng="0" swAng="5400000"/>
                <a:lnTo>
                  <a:pt x="0" y="355600"/>
                </a:lnTo>
                <a:lnTo>
                  <a:pt x="0" y="0"/>
                </a:lnTo>
                <a:close/>
              </a:path>
            </a:pathLst>
          </a:custGeom>
          <a:solidFill>
            <a:srgbClr val="E8892F"/>
          </a:solidFill>
          <a:ln/>
        </p:spPr>
      </p:sp>
      <p:sp>
        <p:nvSpPr>
          <p:cNvPr id="12" name="Text 10"/>
          <p:cNvSpPr/>
          <p:nvPr/>
        </p:nvSpPr>
        <p:spPr>
          <a:xfrm>
            <a:off x="6026150" y="3004592"/>
            <a:ext cx="65270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6.37%</a:t>
            </a:r>
            <a:endParaRPr lang="en-US" sz="1400" dirty="0"/>
          </a:p>
        </p:txBody>
      </p:sp>
      <p:sp>
        <p:nvSpPr>
          <p:cNvPr id="13" name="Text 11"/>
          <p:cNvSpPr/>
          <p:nvPr/>
        </p:nvSpPr>
        <p:spPr>
          <a:xfrm>
            <a:off x="812800" y="3525292"/>
            <a:ext cx="1447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Code 6</a:t>
            </a:r>
            <a:endParaRPr lang="en-US" sz="1400" dirty="0"/>
          </a:p>
        </p:txBody>
      </p:sp>
      <p:sp>
        <p:nvSpPr>
          <p:cNvPr id="14" name="Text 12"/>
          <p:cNvSpPr/>
          <p:nvPr/>
        </p:nvSpPr>
        <p:spPr>
          <a:xfrm>
            <a:off x="812800" y="379958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119,781 clients</a:t>
            </a:r>
            <a:endParaRPr lang="en-US" sz="1200" dirty="0"/>
          </a:p>
        </p:txBody>
      </p:sp>
      <p:sp>
        <p:nvSpPr>
          <p:cNvPr id="15" name="Shape 13"/>
          <p:cNvSpPr/>
          <p:nvPr/>
        </p:nvSpPr>
        <p:spPr>
          <a:xfrm>
            <a:off x="2362200" y="3591272"/>
            <a:ext cx="3333750" cy="355600"/>
          </a:xfrm>
          <a:custGeom>
            <a:avLst/>
            <a:gdLst/>
            <a:ahLst/>
            <a:cxnLst/>
            <a:rect l="l" t="t" r="r" b="b"/>
            <a:pathLst>
              <a:path w="3333750" h="355600">
                <a:moveTo>
                  <a:pt x="0" y="0"/>
                </a:moveTo>
                <a:lnTo>
                  <a:pt x="3282950" y="0"/>
                </a:lnTo>
                <a:arcTo hR="50800" wR="50800" stAng="16200000" swAng="5400000"/>
                <a:lnTo>
                  <a:pt x="3333750" y="304800"/>
                </a:lnTo>
                <a:arcTo hR="50800" wR="50800" stAng="0" swAng="5400000"/>
                <a:lnTo>
                  <a:pt x="0" y="355600"/>
                </a:lnTo>
                <a:lnTo>
                  <a:pt x="0" y="0"/>
                </a:lnTo>
                <a:close/>
              </a:path>
            </a:pathLst>
          </a:custGeom>
          <a:solidFill>
            <a:srgbClr val="E8892F"/>
          </a:solidFill>
          <a:ln/>
        </p:spPr>
      </p:sp>
      <p:sp>
        <p:nvSpPr>
          <p:cNvPr id="16" name="Text 14"/>
          <p:cNvSpPr/>
          <p:nvPr/>
        </p:nvSpPr>
        <p:spPr>
          <a:xfrm>
            <a:off x="5797550" y="3644602"/>
            <a:ext cx="65270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5.97%</a:t>
            </a:r>
            <a:endParaRPr lang="en-US" sz="1400" dirty="0"/>
          </a:p>
        </p:txBody>
      </p:sp>
      <p:sp>
        <p:nvSpPr>
          <p:cNvPr id="17" name="Text 15"/>
          <p:cNvSpPr/>
          <p:nvPr/>
        </p:nvSpPr>
        <p:spPr>
          <a:xfrm>
            <a:off x="812800" y="4165302"/>
            <a:ext cx="1447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Code 7</a:t>
            </a:r>
            <a:endParaRPr lang="en-US" sz="1400" dirty="0"/>
          </a:p>
        </p:txBody>
      </p:sp>
      <p:sp>
        <p:nvSpPr>
          <p:cNvPr id="18" name="Text 16"/>
          <p:cNvSpPr/>
          <p:nvPr/>
        </p:nvSpPr>
        <p:spPr>
          <a:xfrm>
            <a:off x="812800" y="4439593"/>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478 clients</a:t>
            </a:r>
            <a:endParaRPr lang="en-US" sz="1200" dirty="0"/>
          </a:p>
        </p:txBody>
      </p:sp>
      <p:sp>
        <p:nvSpPr>
          <p:cNvPr id="19" name="Shape 17"/>
          <p:cNvSpPr/>
          <p:nvPr/>
        </p:nvSpPr>
        <p:spPr>
          <a:xfrm>
            <a:off x="2362200" y="4231283"/>
            <a:ext cx="114300" cy="355600"/>
          </a:xfrm>
          <a:custGeom>
            <a:avLst/>
            <a:gdLst/>
            <a:ahLst/>
            <a:cxnLst/>
            <a:rect l="l" t="t" r="r" b="b"/>
            <a:pathLst>
              <a:path w="114300" h="355600">
                <a:moveTo>
                  <a:pt x="0" y="0"/>
                </a:moveTo>
                <a:lnTo>
                  <a:pt x="63500" y="0"/>
                </a:lnTo>
                <a:arcTo hR="50800" wR="50800" stAng="16200000" swAng="5400000"/>
                <a:lnTo>
                  <a:pt x="114300" y="304800"/>
                </a:lnTo>
                <a:arcTo hR="50800" wR="50800" stAng="0" swAng="5400000"/>
                <a:lnTo>
                  <a:pt x="0" y="355600"/>
                </a:lnTo>
                <a:lnTo>
                  <a:pt x="0" y="0"/>
                </a:lnTo>
                <a:close/>
              </a:path>
            </a:pathLst>
          </a:custGeom>
          <a:solidFill>
            <a:srgbClr val="2F6DB5"/>
          </a:solidFill>
          <a:ln/>
        </p:spPr>
      </p:sp>
      <p:sp>
        <p:nvSpPr>
          <p:cNvPr id="20" name="Text 18"/>
          <p:cNvSpPr/>
          <p:nvPr/>
        </p:nvSpPr>
        <p:spPr>
          <a:xfrm>
            <a:off x="2578100" y="4284613"/>
            <a:ext cx="65270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0.21%</a:t>
            </a:r>
            <a:endParaRPr lang="en-US" sz="1400" dirty="0"/>
          </a:p>
        </p:txBody>
      </p:sp>
      <p:sp>
        <p:nvSpPr>
          <p:cNvPr id="21" name="Shape 19"/>
          <p:cNvSpPr/>
          <p:nvPr/>
        </p:nvSpPr>
        <p:spPr>
          <a:xfrm>
            <a:off x="5480050" y="2245271"/>
            <a:ext cx="19050" cy="2407642"/>
          </a:xfrm>
          <a:prstGeom prst="rect">
            <a:avLst/>
          </a:prstGeom>
          <a:gradFill rotWithShape="1">
            <a:gsLst>
              <a:gs pos="0">
                <a:srgbClr val="14202B"/>
              </a:gs>
              <a:gs pos="55556">
                <a:srgbClr val="14202B"/>
              </a:gs>
              <a:gs pos="55556">
                <a:srgbClr val="14202B">
                  <a:alpha val="0"/>
                </a:srgbClr>
              </a:gs>
              <a:gs pos="100000">
                <a:srgbClr val="000000">
                  <a:alpha val="0"/>
                </a:srgbClr>
              </a:gs>
            </a:gsLst>
            <a:lin ang="5400000" scaled="0"/>
          </a:gradFill>
          <a:ln/>
        </p:spPr>
      </p:sp>
      <p:sp>
        <p:nvSpPr>
          <p:cNvPr id="22" name="Shape 20"/>
          <p:cNvSpPr/>
          <p:nvPr/>
        </p:nvSpPr>
        <p:spPr>
          <a:xfrm>
            <a:off x="812800" y="4927848"/>
            <a:ext cx="304800" cy="19050"/>
          </a:xfrm>
          <a:prstGeom prst="rect">
            <a:avLst/>
          </a:prstGeom>
          <a:gradFill rotWithShape="1">
            <a:gsLst>
              <a:gs pos="0">
                <a:srgbClr val="14202B"/>
              </a:gs>
              <a:gs pos="55556">
                <a:srgbClr val="14202B"/>
              </a:gs>
              <a:gs pos="55556">
                <a:srgbClr val="14202B">
                  <a:alpha val="0"/>
                </a:srgbClr>
              </a:gs>
              <a:gs pos="100000">
                <a:srgbClr val="000000">
                  <a:alpha val="0"/>
                </a:srgbClr>
              </a:gs>
            </a:gsLst>
            <a:lin ang="0" scaled="0"/>
          </a:gradFill>
          <a:ln/>
        </p:spPr>
      </p:sp>
      <p:sp>
        <p:nvSpPr>
          <p:cNvPr id="23" name="Text 21"/>
          <p:cNvSpPr/>
          <p:nvPr/>
        </p:nvSpPr>
        <p:spPr>
          <a:xfrm>
            <a:off x="1219200" y="4830713"/>
            <a:ext cx="35608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Average fraud rate across all clients: 5.58%</a:t>
            </a:r>
            <a:endParaRPr lang="en-US" sz="1200" dirty="0"/>
          </a:p>
        </p:txBody>
      </p:sp>
      <p:sp>
        <p:nvSpPr>
          <p:cNvPr id="24" name="Shape 22"/>
          <p:cNvSpPr/>
          <p:nvPr/>
        </p:nvSpPr>
        <p:spPr>
          <a:xfrm>
            <a:off x="7953375" y="1857325"/>
            <a:ext cx="3422650" cy="3449042"/>
          </a:xfrm>
          <a:prstGeom prst="roundRect">
            <a:avLst>
              <a:gd name="adj" fmla="val 3618"/>
            </a:avLst>
          </a:prstGeom>
          <a:solidFill>
            <a:srgbClr val="FCFAF5"/>
          </a:solidFill>
          <a:ln w="6350">
            <a:solidFill>
              <a:srgbClr val="E3DED3"/>
            </a:solidFill>
            <a:prstDash val="solid"/>
          </a:ln>
        </p:spPr>
      </p:sp>
      <p:sp>
        <p:nvSpPr>
          <p:cNvPr id="25" name="Text 23"/>
          <p:cNvSpPr/>
          <p:nvPr/>
        </p:nvSpPr>
        <p:spPr>
          <a:xfrm>
            <a:off x="8210550" y="2114500"/>
            <a:ext cx="2995549"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A9520C"/>
                </a:solidFill>
                <a:latin typeface="Space Grotesk" pitchFamily="34" charset="0"/>
                <a:ea typeface="Space Grotesk" pitchFamily="34" charset="-122"/>
                <a:cs typeface="Space Grotesk" pitchFamily="34" charset="-120"/>
              </a:rPr>
              <a:t>35×</a:t>
            </a:r>
            <a:endParaRPr lang="en-US" sz="6000" dirty="0"/>
          </a:p>
        </p:txBody>
      </p:sp>
      <p:sp>
        <p:nvSpPr>
          <p:cNvPr id="26" name="Text 24"/>
          <p:cNvSpPr/>
          <p:nvPr/>
        </p:nvSpPr>
        <p:spPr>
          <a:xfrm>
            <a:off x="8210550" y="3079700"/>
            <a:ext cx="2995549"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02B"/>
                </a:solidFill>
                <a:latin typeface="IBM Plex Sans" pitchFamily="34" charset="0"/>
                <a:ea typeface="IBM Plex Sans" pitchFamily="34" charset="-122"/>
                <a:cs typeface="IBM Plex Sans" pitchFamily="34" charset="-120"/>
              </a:rPr>
              <a:t>higher fraud rate for code 8 (7.25%) than for code 7 (0.21%)</a:t>
            </a:r>
            <a:endParaRPr lang="en-US" sz="1400" dirty="0"/>
          </a:p>
        </p:txBody>
      </p:sp>
      <p:sp>
        <p:nvSpPr>
          <p:cNvPr id="27" name="Text 25"/>
          <p:cNvSpPr/>
          <p:nvPr/>
        </p:nvSpPr>
        <p:spPr>
          <a:xfrm>
            <a:off x="8210550" y="3722241"/>
            <a:ext cx="2995549"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0"/>
                </a:solidFill>
                <a:latin typeface="IBM Plex Sans" pitchFamily="34" charset="0"/>
                <a:ea typeface="IBM Plex Sans" pitchFamily="34" charset="-122"/>
                <a:cs typeface="IBM Plex Sans" pitchFamily="34" charset="-120"/>
              </a:rPr>
              <a:t>The meter reader assigns a code at every visit. We use it as it comes, no engineering needed.</a:t>
            </a:r>
            <a:endParaRPr lang="en-US" sz="1400" dirty="0"/>
          </a:p>
        </p:txBody>
      </p:sp>
      <p:sp>
        <p:nvSpPr>
          <p:cNvPr id="28" name="Text 26"/>
          <p:cNvSpPr/>
          <p:nvPr/>
        </p:nvSpPr>
        <p:spPr>
          <a:xfrm>
            <a:off x="8210550" y="4622552"/>
            <a:ext cx="29955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Codes 5, 203, 207 and 413 cover 1–2 clients each, none of them fraud.</a:t>
            </a:r>
            <a:endParaRPr lang="en-US" sz="1200" dirty="0"/>
          </a:p>
        </p:txBody>
      </p:sp>
      <p:sp>
        <p:nvSpPr>
          <p:cNvPr id="29" name="Text 27"/>
          <p:cNvSpPr/>
          <p:nvPr/>
        </p:nvSpPr>
        <p:spPr>
          <a:xfrm>
            <a:off x="812800" y="6238280"/>
            <a:ext cx="1727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Catching meter fraud</a:t>
            </a:r>
            <a:endParaRPr lang="en-US" sz="1200" dirty="0"/>
          </a:p>
        </p:txBody>
      </p:sp>
      <p:sp>
        <p:nvSpPr>
          <p:cNvPr id="30" name="Text 28"/>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SIGNAL 2 · TARIFF SWITCHES</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More tariff switches, more fraud</a:t>
            </a:r>
            <a:endParaRPr lang="en-US" sz="3200" dirty="0"/>
          </a:p>
        </p:txBody>
      </p:sp>
      <p:sp>
        <p:nvSpPr>
          <p:cNvPr id="4" name="Shape 2"/>
          <p:cNvSpPr/>
          <p:nvPr/>
        </p:nvSpPr>
        <p:spPr>
          <a:xfrm>
            <a:off x="812800" y="4514800"/>
            <a:ext cx="6223000" cy="0"/>
          </a:xfrm>
          <a:prstGeom prst="line">
            <a:avLst/>
          </a:prstGeom>
          <a:noFill/>
          <a:ln w="12700">
            <a:solidFill>
              <a:srgbClr val="14202B"/>
            </a:solidFill>
            <a:prstDash val="solid"/>
          </a:ln>
        </p:spPr>
      </p:sp>
      <p:sp>
        <p:nvSpPr>
          <p:cNvPr id="5" name="Text 3"/>
          <p:cNvSpPr/>
          <p:nvPr/>
        </p:nvSpPr>
        <p:spPr>
          <a:xfrm>
            <a:off x="994951" y="3757910"/>
            <a:ext cx="524649"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3.9%</a:t>
            </a:r>
            <a:endParaRPr lang="en-US" sz="1400" dirty="0"/>
          </a:p>
        </p:txBody>
      </p:sp>
      <p:sp>
        <p:nvSpPr>
          <p:cNvPr id="6" name="Shape 4"/>
          <p:cNvSpPr/>
          <p:nvPr/>
        </p:nvSpPr>
        <p:spPr>
          <a:xfrm>
            <a:off x="939800" y="4057600"/>
            <a:ext cx="635000" cy="450850"/>
          </a:xfrm>
          <a:custGeom>
            <a:avLst/>
            <a:gdLst/>
            <a:ahLst/>
            <a:cxnLst/>
            <a:rect l="l" t="t" r="r" b="b"/>
            <a:pathLst>
              <a:path w="635000" h="450850">
                <a:moveTo>
                  <a:pt x="50800" y="0"/>
                </a:moveTo>
                <a:lnTo>
                  <a:pt x="584200" y="0"/>
                </a:lnTo>
                <a:arcTo hR="50800" wR="50800" stAng="16200000" swAng="5400000"/>
                <a:lnTo>
                  <a:pt x="635000" y="450850"/>
                </a:lnTo>
                <a:lnTo>
                  <a:pt x="0" y="450850"/>
                </a:lnTo>
                <a:lnTo>
                  <a:pt x="0" y="50800"/>
                </a:lnTo>
                <a:arcTo hR="50800" wR="50800" stAng="10800000" swAng="5400000"/>
                <a:close/>
              </a:path>
            </a:pathLst>
          </a:custGeom>
          <a:solidFill>
            <a:srgbClr val="2F6DB5"/>
          </a:solidFill>
          <a:ln/>
        </p:spPr>
      </p:sp>
      <p:sp>
        <p:nvSpPr>
          <p:cNvPr id="7" name="Text 5"/>
          <p:cNvSpPr/>
          <p:nvPr/>
        </p:nvSpPr>
        <p:spPr>
          <a:xfrm>
            <a:off x="2061751" y="3395960"/>
            <a:ext cx="524649"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7.1%</a:t>
            </a:r>
            <a:endParaRPr lang="en-US" sz="1400" dirty="0"/>
          </a:p>
        </p:txBody>
      </p:sp>
      <p:sp>
        <p:nvSpPr>
          <p:cNvPr id="8" name="Shape 6"/>
          <p:cNvSpPr/>
          <p:nvPr/>
        </p:nvSpPr>
        <p:spPr>
          <a:xfrm>
            <a:off x="2006600" y="3695650"/>
            <a:ext cx="635000" cy="812800"/>
          </a:xfrm>
          <a:custGeom>
            <a:avLst/>
            <a:gdLst/>
            <a:ahLst/>
            <a:cxnLst/>
            <a:rect l="l" t="t" r="r" b="b"/>
            <a:pathLst>
              <a:path w="635000" h="812800">
                <a:moveTo>
                  <a:pt x="50800" y="0"/>
                </a:moveTo>
                <a:lnTo>
                  <a:pt x="584200" y="0"/>
                </a:lnTo>
                <a:arcTo hR="50800" wR="50800" stAng="16200000" swAng="5400000"/>
                <a:lnTo>
                  <a:pt x="635000" y="812800"/>
                </a:lnTo>
                <a:lnTo>
                  <a:pt x="0" y="812800"/>
                </a:lnTo>
                <a:lnTo>
                  <a:pt x="0" y="50800"/>
                </a:lnTo>
                <a:arcTo hR="50800" wR="50800" stAng="10800000" swAng="5400000"/>
                <a:close/>
              </a:path>
            </a:pathLst>
          </a:custGeom>
          <a:solidFill>
            <a:srgbClr val="E8892F"/>
          </a:solidFill>
          <a:ln/>
        </p:spPr>
      </p:sp>
      <p:sp>
        <p:nvSpPr>
          <p:cNvPr id="9" name="Text 7"/>
          <p:cNvSpPr/>
          <p:nvPr/>
        </p:nvSpPr>
        <p:spPr>
          <a:xfrm>
            <a:off x="3064550" y="2919710"/>
            <a:ext cx="652701"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11.3%</a:t>
            </a:r>
            <a:endParaRPr lang="en-US" sz="1400" dirty="0"/>
          </a:p>
        </p:txBody>
      </p:sp>
      <p:sp>
        <p:nvSpPr>
          <p:cNvPr id="10" name="Shape 8"/>
          <p:cNvSpPr/>
          <p:nvPr/>
        </p:nvSpPr>
        <p:spPr>
          <a:xfrm>
            <a:off x="3073400" y="3219400"/>
            <a:ext cx="635000" cy="1289050"/>
          </a:xfrm>
          <a:custGeom>
            <a:avLst/>
            <a:gdLst/>
            <a:ahLst/>
            <a:cxnLst/>
            <a:rect l="l" t="t" r="r" b="b"/>
            <a:pathLst>
              <a:path w="635000" h="1289050">
                <a:moveTo>
                  <a:pt x="50800" y="0"/>
                </a:moveTo>
                <a:lnTo>
                  <a:pt x="584200" y="0"/>
                </a:lnTo>
                <a:arcTo hR="50800" wR="50800" stAng="16200000" swAng="5400000"/>
                <a:lnTo>
                  <a:pt x="635000" y="1289050"/>
                </a:lnTo>
                <a:lnTo>
                  <a:pt x="0" y="1289050"/>
                </a:lnTo>
                <a:lnTo>
                  <a:pt x="0" y="50800"/>
                </a:lnTo>
                <a:arcTo hR="50800" wR="50800" stAng="10800000" swAng="5400000"/>
                <a:close/>
              </a:path>
            </a:pathLst>
          </a:custGeom>
          <a:solidFill>
            <a:srgbClr val="E8892F"/>
          </a:solidFill>
          <a:ln/>
        </p:spPr>
      </p:sp>
      <p:sp>
        <p:nvSpPr>
          <p:cNvPr id="11" name="Text 9"/>
          <p:cNvSpPr/>
          <p:nvPr/>
        </p:nvSpPr>
        <p:spPr>
          <a:xfrm>
            <a:off x="4131350" y="2830810"/>
            <a:ext cx="652701"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12.0%</a:t>
            </a:r>
            <a:endParaRPr lang="en-US" sz="1400" dirty="0"/>
          </a:p>
        </p:txBody>
      </p:sp>
      <p:sp>
        <p:nvSpPr>
          <p:cNvPr id="12" name="Shape 10"/>
          <p:cNvSpPr/>
          <p:nvPr/>
        </p:nvSpPr>
        <p:spPr>
          <a:xfrm>
            <a:off x="4140200" y="3130500"/>
            <a:ext cx="635000" cy="1377950"/>
          </a:xfrm>
          <a:custGeom>
            <a:avLst/>
            <a:gdLst/>
            <a:ahLst/>
            <a:cxnLst/>
            <a:rect l="l" t="t" r="r" b="b"/>
            <a:pathLst>
              <a:path w="635000" h="1377950">
                <a:moveTo>
                  <a:pt x="50800" y="0"/>
                </a:moveTo>
                <a:lnTo>
                  <a:pt x="584200" y="0"/>
                </a:lnTo>
                <a:arcTo hR="50800" wR="50800" stAng="16200000" swAng="5400000"/>
                <a:lnTo>
                  <a:pt x="635000" y="1377950"/>
                </a:lnTo>
                <a:lnTo>
                  <a:pt x="0" y="1377950"/>
                </a:lnTo>
                <a:lnTo>
                  <a:pt x="0" y="50800"/>
                </a:lnTo>
                <a:arcTo hR="50800" wR="50800" stAng="10800000" swAng="5400000"/>
                <a:close/>
              </a:path>
            </a:pathLst>
          </a:custGeom>
          <a:solidFill>
            <a:srgbClr val="E8892F"/>
          </a:solidFill>
          <a:ln/>
        </p:spPr>
      </p:sp>
      <p:sp>
        <p:nvSpPr>
          <p:cNvPr id="13" name="Text 11"/>
          <p:cNvSpPr/>
          <p:nvPr/>
        </p:nvSpPr>
        <p:spPr>
          <a:xfrm>
            <a:off x="5198150" y="2170410"/>
            <a:ext cx="652701"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17.9%</a:t>
            </a:r>
            <a:endParaRPr lang="en-US" sz="1400" dirty="0"/>
          </a:p>
        </p:txBody>
      </p:sp>
      <p:sp>
        <p:nvSpPr>
          <p:cNvPr id="14" name="Shape 12"/>
          <p:cNvSpPr/>
          <p:nvPr/>
        </p:nvSpPr>
        <p:spPr>
          <a:xfrm>
            <a:off x="5207000" y="2470100"/>
            <a:ext cx="635000" cy="2038350"/>
          </a:xfrm>
          <a:custGeom>
            <a:avLst/>
            <a:gdLst/>
            <a:ahLst/>
            <a:cxnLst/>
            <a:rect l="l" t="t" r="r" b="b"/>
            <a:pathLst>
              <a:path w="635000" h="2038350">
                <a:moveTo>
                  <a:pt x="50800" y="0"/>
                </a:moveTo>
                <a:lnTo>
                  <a:pt x="584200" y="0"/>
                </a:lnTo>
                <a:arcTo hR="50800" wR="50800" stAng="16200000" swAng="5400000"/>
                <a:lnTo>
                  <a:pt x="635000" y="2038350"/>
                </a:lnTo>
                <a:lnTo>
                  <a:pt x="0" y="2038350"/>
                </a:lnTo>
                <a:lnTo>
                  <a:pt x="0" y="50800"/>
                </a:lnTo>
                <a:arcTo hR="50800" wR="50800" stAng="10800000" swAng="5400000"/>
                <a:close/>
              </a:path>
            </a:pathLst>
          </a:custGeom>
          <a:solidFill>
            <a:srgbClr val="E8892F"/>
          </a:solidFill>
          <a:ln/>
        </p:spPr>
      </p:sp>
      <p:sp>
        <p:nvSpPr>
          <p:cNvPr id="15" name="Text 13"/>
          <p:cNvSpPr/>
          <p:nvPr/>
        </p:nvSpPr>
        <p:spPr>
          <a:xfrm>
            <a:off x="6264950" y="1973560"/>
            <a:ext cx="652701"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55.6%</a:t>
            </a:r>
            <a:endParaRPr lang="en-US" sz="1400" dirty="0"/>
          </a:p>
        </p:txBody>
      </p:sp>
      <p:sp>
        <p:nvSpPr>
          <p:cNvPr id="16" name="Shape 14"/>
          <p:cNvSpPr/>
          <p:nvPr/>
        </p:nvSpPr>
        <p:spPr>
          <a:xfrm>
            <a:off x="6273800" y="2273250"/>
            <a:ext cx="635000" cy="546100"/>
          </a:xfrm>
          <a:custGeom>
            <a:avLst/>
            <a:gdLst/>
            <a:ahLst/>
            <a:cxnLst/>
            <a:rect l="l" t="t" r="r" b="b"/>
            <a:pathLst>
              <a:path w="635000" h="546100">
                <a:moveTo>
                  <a:pt x="50800" y="0"/>
                </a:moveTo>
                <a:lnTo>
                  <a:pt x="584200" y="0"/>
                </a:lnTo>
                <a:arcTo hR="50800" wR="50800" stAng="16200000" swAng="5400000"/>
                <a:lnTo>
                  <a:pt x="635000" y="546100"/>
                </a:lnTo>
                <a:lnTo>
                  <a:pt x="0" y="546100"/>
                </a:lnTo>
                <a:lnTo>
                  <a:pt x="0" y="50800"/>
                </a:lnTo>
                <a:arcTo hR="50800" wR="50800" stAng="10800000" swAng="5400000"/>
                <a:close/>
              </a:path>
            </a:pathLst>
          </a:custGeom>
          <a:solidFill>
            <a:srgbClr val="E8892F"/>
          </a:solidFill>
          <a:ln/>
        </p:spPr>
      </p:sp>
      <p:sp>
        <p:nvSpPr>
          <p:cNvPr id="17" name="Shape 15"/>
          <p:cNvSpPr/>
          <p:nvPr/>
        </p:nvSpPr>
        <p:spPr>
          <a:xfrm>
            <a:off x="6273800" y="2870150"/>
            <a:ext cx="635000" cy="1638300"/>
          </a:xfrm>
          <a:prstGeom prst="rect">
            <a:avLst/>
          </a:prstGeom>
          <a:solidFill>
            <a:srgbClr val="E8892F"/>
          </a:solidFill>
          <a:ln/>
        </p:spPr>
      </p:sp>
      <p:sp>
        <p:nvSpPr>
          <p:cNvPr id="18" name="Shape 16"/>
          <p:cNvSpPr/>
          <p:nvPr/>
        </p:nvSpPr>
        <p:spPr>
          <a:xfrm>
            <a:off x="812800" y="3873450"/>
            <a:ext cx="6223000" cy="19050"/>
          </a:xfrm>
          <a:prstGeom prst="rect">
            <a:avLst/>
          </a:prstGeom>
          <a:gradFill rotWithShape="1">
            <a:gsLst>
              <a:gs pos="0">
                <a:srgbClr val="14202B"/>
              </a:gs>
              <a:gs pos="55556">
                <a:srgbClr val="14202B"/>
              </a:gs>
              <a:gs pos="55556">
                <a:srgbClr val="14202B">
                  <a:alpha val="0"/>
                </a:srgbClr>
              </a:gs>
              <a:gs pos="100000">
                <a:srgbClr val="000000">
                  <a:alpha val="0"/>
                </a:srgbClr>
              </a:gs>
            </a:gsLst>
            <a:lin ang="0" scaled="0"/>
          </a:gradFill>
          <a:ln/>
        </p:spPr>
      </p:sp>
      <p:sp>
        <p:nvSpPr>
          <p:cNvPr id="19" name="Text 17"/>
          <p:cNvSpPr/>
          <p:nvPr/>
        </p:nvSpPr>
        <p:spPr>
          <a:xfrm>
            <a:off x="1178520" y="4597350"/>
            <a:ext cx="15751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1</a:t>
            </a:r>
            <a:endParaRPr lang="en-US" sz="1400" dirty="0"/>
          </a:p>
        </p:txBody>
      </p:sp>
      <p:sp>
        <p:nvSpPr>
          <p:cNvPr id="20" name="Text 18"/>
          <p:cNvSpPr/>
          <p:nvPr/>
        </p:nvSpPr>
        <p:spPr>
          <a:xfrm>
            <a:off x="958096" y="4858941"/>
            <a:ext cx="59840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70,837</a:t>
            </a:r>
            <a:endParaRPr lang="en-US" sz="1200" dirty="0"/>
          </a:p>
        </p:txBody>
      </p:sp>
      <p:sp>
        <p:nvSpPr>
          <p:cNvPr id="21" name="Text 19"/>
          <p:cNvSpPr/>
          <p:nvPr/>
        </p:nvSpPr>
        <p:spPr>
          <a:xfrm>
            <a:off x="2245320" y="4597350"/>
            <a:ext cx="15751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2</a:t>
            </a:r>
            <a:endParaRPr lang="en-US" sz="1400" dirty="0"/>
          </a:p>
        </p:txBody>
      </p:sp>
      <p:sp>
        <p:nvSpPr>
          <p:cNvPr id="22" name="Text 20"/>
          <p:cNvSpPr/>
          <p:nvPr/>
        </p:nvSpPr>
        <p:spPr>
          <a:xfrm>
            <a:off x="2024896" y="4858941"/>
            <a:ext cx="59840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60,466</a:t>
            </a:r>
            <a:endParaRPr lang="en-US" sz="1200" dirty="0"/>
          </a:p>
        </p:txBody>
      </p:sp>
      <p:sp>
        <p:nvSpPr>
          <p:cNvPr id="23" name="Text 21"/>
          <p:cNvSpPr/>
          <p:nvPr/>
        </p:nvSpPr>
        <p:spPr>
          <a:xfrm>
            <a:off x="3312120" y="4597350"/>
            <a:ext cx="15751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3</a:t>
            </a:r>
            <a:endParaRPr lang="en-US" sz="1400" dirty="0"/>
          </a:p>
        </p:txBody>
      </p:sp>
      <p:sp>
        <p:nvSpPr>
          <p:cNvPr id="24" name="Text 22"/>
          <p:cNvSpPr/>
          <p:nvPr/>
        </p:nvSpPr>
        <p:spPr>
          <a:xfrm>
            <a:off x="3146529" y="4858941"/>
            <a:ext cx="4886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3,701</a:t>
            </a:r>
            <a:endParaRPr lang="en-US" sz="1200" dirty="0"/>
          </a:p>
        </p:txBody>
      </p:sp>
      <p:sp>
        <p:nvSpPr>
          <p:cNvPr id="25" name="Text 23"/>
          <p:cNvSpPr/>
          <p:nvPr/>
        </p:nvSpPr>
        <p:spPr>
          <a:xfrm>
            <a:off x="4378920" y="4597350"/>
            <a:ext cx="15751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4</a:t>
            </a:r>
            <a:endParaRPr lang="en-US" sz="1400" dirty="0"/>
          </a:p>
        </p:txBody>
      </p:sp>
      <p:sp>
        <p:nvSpPr>
          <p:cNvPr id="26" name="Text 24"/>
          <p:cNvSpPr/>
          <p:nvPr/>
        </p:nvSpPr>
        <p:spPr>
          <a:xfrm>
            <a:off x="4293096" y="4858941"/>
            <a:ext cx="32920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424</a:t>
            </a:r>
            <a:endParaRPr lang="en-US" sz="1200" dirty="0"/>
          </a:p>
        </p:txBody>
      </p:sp>
      <p:sp>
        <p:nvSpPr>
          <p:cNvPr id="27" name="Text 25"/>
          <p:cNvSpPr/>
          <p:nvPr/>
        </p:nvSpPr>
        <p:spPr>
          <a:xfrm>
            <a:off x="5445720" y="4597350"/>
            <a:ext cx="15751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5</a:t>
            </a:r>
            <a:endParaRPr lang="en-US" sz="1400" dirty="0"/>
          </a:p>
        </p:txBody>
      </p:sp>
      <p:sp>
        <p:nvSpPr>
          <p:cNvPr id="28" name="Text 26"/>
          <p:cNvSpPr/>
          <p:nvPr/>
        </p:nvSpPr>
        <p:spPr>
          <a:xfrm>
            <a:off x="5407620" y="4858941"/>
            <a:ext cx="23371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56</a:t>
            </a:r>
            <a:endParaRPr lang="en-US" sz="1200" dirty="0"/>
          </a:p>
        </p:txBody>
      </p:sp>
      <p:sp>
        <p:nvSpPr>
          <p:cNvPr id="29" name="Text 27"/>
          <p:cNvSpPr/>
          <p:nvPr/>
        </p:nvSpPr>
        <p:spPr>
          <a:xfrm>
            <a:off x="6512520" y="4597350"/>
            <a:ext cx="15751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6</a:t>
            </a:r>
            <a:endParaRPr lang="en-US" sz="1400" dirty="0"/>
          </a:p>
        </p:txBody>
      </p:sp>
      <p:sp>
        <p:nvSpPr>
          <p:cNvPr id="30" name="Text 28"/>
          <p:cNvSpPr/>
          <p:nvPr/>
        </p:nvSpPr>
        <p:spPr>
          <a:xfrm>
            <a:off x="6520160" y="4858941"/>
            <a:ext cx="1422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9</a:t>
            </a:r>
            <a:endParaRPr lang="en-US" sz="1200" dirty="0"/>
          </a:p>
        </p:txBody>
      </p:sp>
      <p:sp>
        <p:nvSpPr>
          <p:cNvPr id="31" name="Shape 29"/>
          <p:cNvSpPr/>
          <p:nvPr/>
        </p:nvSpPr>
        <p:spPr>
          <a:xfrm>
            <a:off x="812800" y="5245596"/>
            <a:ext cx="304800" cy="19050"/>
          </a:xfrm>
          <a:prstGeom prst="rect">
            <a:avLst/>
          </a:prstGeom>
          <a:gradFill rotWithShape="1">
            <a:gsLst>
              <a:gs pos="0">
                <a:srgbClr val="14202B"/>
              </a:gs>
              <a:gs pos="55556">
                <a:srgbClr val="14202B"/>
              </a:gs>
              <a:gs pos="55556">
                <a:srgbClr val="14202B">
                  <a:alpha val="0"/>
                </a:srgbClr>
              </a:gs>
              <a:gs pos="100000">
                <a:srgbClr val="000000">
                  <a:alpha val="0"/>
                </a:srgbClr>
              </a:gs>
            </a:gsLst>
            <a:lin ang="0" scaled="0"/>
          </a:gradFill>
          <a:ln/>
        </p:spPr>
      </p:sp>
      <p:sp>
        <p:nvSpPr>
          <p:cNvPr id="32" name="Text 30"/>
          <p:cNvSpPr/>
          <p:nvPr/>
        </p:nvSpPr>
        <p:spPr>
          <a:xfrm>
            <a:off x="1219200" y="5148461"/>
            <a:ext cx="6959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Average 5.58% · x-axis: tariff types per client, with client counts · 55.6% bar cut to fit</a:t>
            </a:r>
            <a:endParaRPr lang="en-US" sz="1200" dirty="0"/>
          </a:p>
        </p:txBody>
      </p:sp>
      <p:sp>
        <p:nvSpPr>
          <p:cNvPr id="33" name="Text 31"/>
          <p:cNvSpPr/>
          <p:nvPr/>
        </p:nvSpPr>
        <p:spPr>
          <a:xfrm>
            <a:off x="7442200" y="1854150"/>
            <a:ext cx="405511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Switching tariffs is a warning sign</a:t>
            </a:r>
            <a:endParaRPr lang="en-US" sz="2000" dirty="0"/>
          </a:p>
        </p:txBody>
      </p:sp>
      <p:sp>
        <p:nvSpPr>
          <p:cNvPr id="34" name="Text 32"/>
          <p:cNvSpPr/>
          <p:nvPr/>
        </p:nvSpPr>
        <p:spPr>
          <a:xfrm>
            <a:off x="7442200" y="2616150"/>
            <a:ext cx="405511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0"/>
                </a:solidFill>
                <a:latin typeface="IBM Plex Sans" pitchFamily="34" charset="0"/>
                <a:ea typeface="IBM Plex Sans" pitchFamily="34" charset="-122"/>
                <a:cs typeface="IBM Plex Sans" pitchFamily="34" charset="-120"/>
              </a:rPr>
              <a:t>One tariff: 3.9% fraud. Three to five tariffs: 11–18%, two to three times the average.</a:t>
            </a:r>
            <a:endParaRPr lang="en-US" sz="1400" dirty="0"/>
          </a:p>
        </p:txBody>
      </p:sp>
      <p:sp>
        <p:nvSpPr>
          <p:cNvPr id="35" name="Shape 33"/>
          <p:cNvSpPr/>
          <p:nvPr/>
        </p:nvSpPr>
        <p:spPr>
          <a:xfrm>
            <a:off x="7442200" y="3284091"/>
            <a:ext cx="3937000" cy="838200"/>
          </a:xfrm>
          <a:prstGeom prst="roundRect">
            <a:avLst>
              <a:gd name="adj" fmla="val 12121"/>
            </a:avLst>
          </a:prstGeom>
          <a:solidFill>
            <a:srgbClr val="14202B"/>
          </a:solidFill>
          <a:ln/>
        </p:spPr>
      </p:sp>
      <p:sp>
        <p:nvSpPr>
          <p:cNvPr id="36" name="Text 34"/>
          <p:cNvSpPr/>
          <p:nvPr/>
        </p:nvSpPr>
        <p:spPr>
          <a:xfrm>
            <a:off x="7645400" y="3461891"/>
            <a:ext cx="363651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6F3EC"/>
                </a:solidFill>
                <a:latin typeface="JetBrains Mono" pitchFamily="49" charset="0"/>
                <a:ea typeface="JetBrains Mono" pitchFamily="49" charset="-122"/>
                <a:cs typeface="JetBrains Mono" pitchFamily="49" charset="-120"/>
              </a:rPr>
              <a:t>X["n_tarif_types"] =</a:t>
            </a:r>
            <a:endParaRPr lang="en-US" sz="1200" dirty="0"/>
          </a:p>
        </p:txBody>
      </p:sp>
      <p:sp>
        <p:nvSpPr>
          <p:cNvPr id="37" name="Text 35"/>
          <p:cNvSpPr/>
          <p:nvPr/>
        </p:nvSpPr>
        <p:spPr>
          <a:xfrm>
            <a:off x="7645400" y="3715891"/>
            <a:ext cx="363651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0A04B"/>
                </a:solidFill>
                <a:latin typeface="JetBrains Mono" pitchFamily="49" charset="0"/>
                <a:ea typeface="JetBrains Mono" pitchFamily="49" charset="-122"/>
                <a:cs typeface="JetBrains Mono" pitchFamily="49" charset="-120"/>
              </a:rPr>
              <a:t>  by_client["tarif_type"].nunique()</a:t>
            </a:r>
            <a:endParaRPr lang="en-US" sz="1200" dirty="0"/>
          </a:p>
        </p:txBody>
      </p:sp>
      <p:sp>
        <p:nvSpPr>
          <p:cNvPr id="38" name="Text 36"/>
          <p:cNvSpPr/>
          <p:nvPr/>
        </p:nvSpPr>
        <p:spPr>
          <a:xfrm>
            <a:off x="7442200" y="4274691"/>
            <a:ext cx="40551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Also added: number of meters and number of invoices per client.</a:t>
            </a:r>
            <a:endParaRPr lang="en-US" sz="1200" dirty="0"/>
          </a:p>
        </p:txBody>
      </p:sp>
      <p:sp>
        <p:nvSpPr>
          <p:cNvPr id="39" name="Text 37"/>
          <p:cNvSpPr/>
          <p:nvPr/>
        </p:nvSpPr>
        <p:spPr>
          <a:xfrm>
            <a:off x="812800" y="6238280"/>
            <a:ext cx="1727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Catching meter fraud</a:t>
            </a:r>
            <a:endParaRPr lang="en-US" sz="1200" dirty="0"/>
          </a:p>
        </p:txBody>
      </p:sp>
      <p:sp>
        <p:nvSpPr>
          <p:cNvPr id="40" name="Text 38"/>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SIGNAL 3 · METER RUNNING BACKWARDS</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Meters running backwards double the risk</a:t>
            </a:r>
            <a:endParaRPr lang="en-US" sz="3200" dirty="0"/>
          </a:p>
        </p:txBody>
      </p:sp>
      <p:sp>
        <p:nvSpPr>
          <p:cNvPr id="4" name="Shape 2"/>
          <p:cNvSpPr/>
          <p:nvPr/>
        </p:nvSpPr>
        <p:spPr>
          <a:xfrm>
            <a:off x="812800" y="4514800"/>
            <a:ext cx="6223000" cy="0"/>
          </a:xfrm>
          <a:prstGeom prst="line">
            <a:avLst/>
          </a:prstGeom>
          <a:noFill/>
          <a:ln w="12700">
            <a:solidFill>
              <a:srgbClr val="14202B"/>
            </a:solidFill>
            <a:prstDash val="solid"/>
          </a:ln>
        </p:spPr>
      </p:sp>
      <p:sp>
        <p:nvSpPr>
          <p:cNvPr id="5" name="Text 3"/>
          <p:cNvSpPr/>
          <p:nvPr/>
        </p:nvSpPr>
        <p:spPr>
          <a:xfrm>
            <a:off x="1261651" y="3891260"/>
            <a:ext cx="524649"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5.5%</a:t>
            </a:r>
            <a:endParaRPr lang="en-US" sz="1400" dirty="0"/>
          </a:p>
        </p:txBody>
      </p:sp>
      <p:sp>
        <p:nvSpPr>
          <p:cNvPr id="6" name="Shape 4"/>
          <p:cNvSpPr/>
          <p:nvPr/>
        </p:nvSpPr>
        <p:spPr>
          <a:xfrm>
            <a:off x="1143000" y="4190950"/>
            <a:ext cx="762000" cy="317500"/>
          </a:xfrm>
          <a:custGeom>
            <a:avLst/>
            <a:gdLst/>
            <a:ahLst/>
            <a:cxnLst/>
            <a:rect l="l" t="t" r="r" b="b"/>
            <a:pathLst>
              <a:path w="762000" h="317500">
                <a:moveTo>
                  <a:pt x="50800" y="0"/>
                </a:moveTo>
                <a:lnTo>
                  <a:pt x="711200" y="0"/>
                </a:lnTo>
                <a:arcTo hR="50800" wR="50800" stAng="16200000" swAng="5400000"/>
                <a:lnTo>
                  <a:pt x="762000" y="317500"/>
                </a:lnTo>
                <a:lnTo>
                  <a:pt x="0" y="317500"/>
                </a:lnTo>
                <a:lnTo>
                  <a:pt x="0" y="50800"/>
                </a:lnTo>
                <a:arcTo hR="50800" wR="50800" stAng="10800000" swAng="5400000"/>
                <a:close/>
              </a:path>
            </a:pathLst>
          </a:custGeom>
          <a:solidFill>
            <a:srgbClr val="2F6DB5"/>
          </a:solidFill>
          <a:ln/>
        </p:spPr>
      </p:sp>
      <p:sp>
        <p:nvSpPr>
          <p:cNvPr id="7" name="Text 5"/>
          <p:cNvSpPr/>
          <p:nvPr/>
        </p:nvSpPr>
        <p:spPr>
          <a:xfrm>
            <a:off x="2797850" y="3561060"/>
            <a:ext cx="652701"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11.3%</a:t>
            </a:r>
            <a:endParaRPr lang="en-US" sz="1400" dirty="0"/>
          </a:p>
        </p:txBody>
      </p:sp>
      <p:sp>
        <p:nvSpPr>
          <p:cNvPr id="8" name="Shape 6"/>
          <p:cNvSpPr/>
          <p:nvPr/>
        </p:nvSpPr>
        <p:spPr>
          <a:xfrm>
            <a:off x="2743200" y="3860750"/>
            <a:ext cx="762000" cy="647700"/>
          </a:xfrm>
          <a:custGeom>
            <a:avLst/>
            <a:gdLst/>
            <a:ahLst/>
            <a:cxnLst/>
            <a:rect l="l" t="t" r="r" b="b"/>
            <a:pathLst>
              <a:path w="762000" h="647700">
                <a:moveTo>
                  <a:pt x="50800" y="0"/>
                </a:moveTo>
                <a:lnTo>
                  <a:pt x="711200" y="0"/>
                </a:lnTo>
                <a:arcTo hR="50800" wR="50800" stAng="16200000" swAng="5400000"/>
                <a:lnTo>
                  <a:pt x="762000" y="647700"/>
                </a:lnTo>
                <a:lnTo>
                  <a:pt x="0" y="647700"/>
                </a:lnTo>
                <a:lnTo>
                  <a:pt x="0" y="50800"/>
                </a:lnTo>
                <a:arcTo hR="50800" wR="50800" stAng="10800000" swAng="5400000"/>
                <a:close/>
              </a:path>
            </a:pathLst>
          </a:custGeom>
          <a:solidFill>
            <a:srgbClr val="E8892F"/>
          </a:solidFill>
          <a:ln/>
        </p:spPr>
      </p:sp>
      <p:sp>
        <p:nvSpPr>
          <p:cNvPr id="9" name="Text 7"/>
          <p:cNvSpPr/>
          <p:nvPr/>
        </p:nvSpPr>
        <p:spPr>
          <a:xfrm>
            <a:off x="4398050" y="3580110"/>
            <a:ext cx="652701"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11.0%</a:t>
            </a:r>
            <a:endParaRPr lang="en-US" sz="1400" dirty="0"/>
          </a:p>
        </p:txBody>
      </p:sp>
      <p:sp>
        <p:nvSpPr>
          <p:cNvPr id="10" name="Shape 8"/>
          <p:cNvSpPr/>
          <p:nvPr/>
        </p:nvSpPr>
        <p:spPr>
          <a:xfrm>
            <a:off x="4343400" y="3879800"/>
            <a:ext cx="762000" cy="628650"/>
          </a:xfrm>
          <a:custGeom>
            <a:avLst/>
            <a:gdLst/>
            <a:ahLst/>
            <a:cxnLst/>
            <a:rect l="l" t="t" r="r" b="b"/>
            <a:pathLst>
              <a:path w="762000" h="628650">
                <a:moveTo>
                  <a:pt x="50800" y="0"/>
                </a:moveTo>
                <a:lnTo>
                  <a:pt x="711200" y="0"/>
                </a:lnTo>
                <a:arcTo hR="50800" wR="50800" stAng="16200000" swAng="5400000"/>
                <a:lnTo>
                  <a:pt x="762000" y="628650"/>
                </a:lnTo>
                <a:lnTo>
                  <a:pt x="0" y="628650"/>
                </a:lnTo>
                <a:lnTo>
                  <a:pt x="0" y="50800"/>
                </a:lnTo>
                <a:arcTo hR="50800" wR="50800" stAng="10800000" swAng="5400000"/>
                <a:close/>
              </a:path>
            </a:pathLst>
          </a:custGeom>
          <a:solidFill>
            <a:srgbClr val="E8892F"/>
          </a:solidFill>
          <a:ln/>
        </p:spPr>
      </p:sp>
      <p:sp>
        <p:nvSpPr>
          <p:cNvPr id="11" name="Text 9"/>
          <p:cNvSpPr/>
          <p:nvPr/>
        </p:nvSpPr>
        <p:spPr>
          <a:xfrm>
            <a:off x="5998250" y="1922760"/>
            <a:ext cx="652701"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40.0%</a:t>
            </a:r>
            <a:endParaRPr lang="en-US" sz="1400" dirty="0"/>
          </a:p>
        </p:txBody>
      </p:sp>
      <p:sp>
        <p:nvSpPr>
          <p:cNvPr id="12" name="Shape 10"/>
          <p:cNvSpPr/>
          <p:nvPr/>
        </p:nvSpPr>
        <p:spPr>
          <a:xfrm>
            <a:off x="5943600" y="2222450"/>
            <a:ext cx="762000" cy="2286000"/>
          </a:xfrm>
          <a:custGeom>
            <a:avLst/>
            <a:gdLst/>
            <a:ahLst/>
            <a:cxnLst/>
            <a:rect l="l" t="t" r="r" b="b"/>
            <a:pathLst>
              <a:path w="762000" h="2286000">
                <a:moveTo>
                  <a:pt x="50800" y="0"/>
                </a:moveTo>
                <a:lnTo>
                  <a:pt x="711200" y="0"/>
                </a:lnTo>
                <a:arcTo hR="50800" wR="50800" stAng="16200000" swAng="5400000"/>
                <a:lnTo>
                  <a:pt x="762000" y="2286000"/>
                </a:lnTo>
                <a:lnTo>
                  <a:pt x="0" y="2286000"/>
                </a:lnTo>
                <a:lnTo>
                  <a:pt x="0" y="50800"/>
                </a:lnTo>
                <a:arcTo hR="50800" wR="50800" stAng="10800000" swAng="5400000"/>
                <a:close/>
              </a:path>
            </a:pathLst>
          </a:custGeom>
          <a:solidFill>
            <a:srgbClr val="E8892F"/>
          </a:solidFill>
          <a:ln/>
        </p:spPr>
      </p:sp>
      <p:sp>
        <p:nvSpPr>
          <p:cNvPr id="13" name="Shape 11"/>
          <p:cNvSpPr/>
          <p:nvPr/>
        </p:nvSpPr>
        <p:spPr>
          <a:xfrm>
            <a:off x="812800" y="4190950"/>
            <a:ext cx="6223000" cy="19050"/>
          </a:xfrm>
          <a:prstGeom prst="rect">
            <a:avLst/>
          </a:prstGeom>
          <a:gradFill rotWithShape="1">
            <a:gsLst>
              <a:gs pos="0">
                <a:srgbClr val="14202B"/>
              </a:gs>
              <a:gs pos="55556">
                <a:srgbClr val="14202B"/>
              </a:gs>
              <a:gs pos="55556">
                <a:srgbClr val="14202B">
                  <a:alpha val="0"/>
                </a:srgbClr>
              </a:gs>
              <a:gs pos="100000">
                <a:srgbClr val="000000">
                  <a:alpha val="0"/>
                </a:srgbClr>
              </a:gs>
            </a:gsLst>
            <a:lin ang="0" scaled="0"/>
          </a:gradFill>
          <a:ln/>
        </p:spPr>
      </p:sp>
      <p:sp>
        <p:nvSpPr>
          <p:cNvPr id="14" name="Text 12"/>
          <p:cNvSpPr/>
          <p:nvPr/>
        </p:nvSpPr>
        <p:spPr>
          <a:xfrm>
            <a:off x="1445220" y="4597350"/>
            <a:ext cx="15751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0</a:t>
            </a:r>
            <a:endParaRPr lang="en-US" sz="1400" dirty="0"/>
          </a:p>
        </p:txBody>
      </p:sp>
      <p:sp>
        <p:nvSpPr>
          <p:cNvPr id="15" name="Text 13"/>
          <p:cNvSpPr/>
          <p:nvPr/>
        </p:nvSpPr>
        <p:spPr>
          <a:xfrm>
            <a:off x="1169913" y="4858941"/>
            <a:ext cx="70812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133,677</a:t>
            </a:r>
            <a:endParaRPr lang="en-US" sz="1200" dirty="0"/>
          </a:p>
        </p:txBody>
      </p:sp>
      <p:sp>
        <p:nvSpPr>
          <p:cNvPr id="16" name="Text 14"/>
          <p:cNvSpPr/>
          <p:nvPr/>
        </p:nvSpPr>
        <p:spPr>
          <a:xfrm>
            <a:off x="3045420" y="4597350"/>
            <a:ext cx="15751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1</a:t>
            </a:r>
            <a:endParaRPr lang="en-US" sz="1400" dirty="0"/>
          </a:p>
        </p:txBody>
      </p:sp>
      <p:sp>
        <p:nvSpPr>
          <p:cNvPr id="17" name="Text 15"/>
          <p:cNvSpPr/>
          <p:nvPr/>
        </p:nvSpPr>
        <p:spPr>
          <a:xfrm>
            <a:off x="2879829" y="4858941"/>
            <a:ext cx="4886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1,519</a:t>
            </a:r>
            <a:endParaRPr lang="en-US" sz="1200" dirty="0"/>
          </a:p>
        </p:txBody>
      </p:sp>
      <p:sp>
        <p:nvSpPr>
          <p:cNvPr id="18" name="Text 16"/>
          <p:cNvSpPr/>
          <p:nvPr/>
        </p:nvSpPr>
        <p:spPr>
          <a:xfrm>
            <a:off x="4533607" y="4597350"/>
            <a:ext cx="381536"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2–5</a:t>
            </a:r>
            <a:endParaRPr lang="en-US" sz="1400" dirty="0"/>
          </a:p>
        </p:txBody>
      </p:sp>
      <p:sp>
        <p:nvSpPr>
          <p:cNvPr id="19" name="Text 17"/>
          <p:cNvSpPr/>
          <p:nvPr/>
        </p:nvSpPr>
        <p:spPr>
          <a:xfrm>
            <a:off x="4559796" y="4858941"/>
            <a:ext cx="32920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292</a:t>
            </a:r>
            <a:endParaRPr lang="en-US" sz="1200" dirty="0"/>
          </a:p>
        </p:txBody>
      </p:sp>
      <p:sp>
        <p:nvSpPr>
          <p:cNvPr id="20" name="Text 18"/>
          <p:cNvSpPr/>
          <p:nvPr/>
        </p:nvSpPr>
        <p:spPr>
          <a:xfrm>
            <a:off x="6192490" y="4597350"/>
            <a:ext cx="26417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6+</a:t>
            </a:r>
            <a:endParaRPr lang="en-US" sz="1400" dirty="0"/>
          </a:p>
        </p:txBody>
      </p:sp>
      <p:sp>
        <p:nvSpPr>
          <p:cNvPr id="21" name="Text 19"/>
          <p:cNvSpPr/>
          <p:nvPr/>
        </p:nvSpPr>
        <p:spPr>
          <a:xfrm>
            <a:off x="6253460" y="4858941"/>
            <a:ext cx="1422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5</a:t>
            </a:r>
            <a:endParaRPr lang="en-US" sz="1200" dirty="0"/>
          </a:p>
        </p:txBody>
      </p:sp>
      <p:sp>
        <p:nvSpPr>
          <p:cNvPr id="22" name="Shape 20"/>
          <p:cNvSpPr/>
          <p:nvPr/>
        </p:nvSpPr>
        <p:spPr>
          <a:xfrm>
            <a:off x="812800" y="5245596"/>
            <a:ext cx="304800" cy="19050"/>
          </a:xfrm>
          <a:prstGeom prst="rect">
            <a:avLst/>
          </a:prstGeom>
          <a:gradFill rotWithShape="1">
            <a:gsLst>
              <a:gs pos="0">
                <a:srgbClr val="14202B"/>
              </a:gs>
              <a:gs pos="55556">
                <a:srgbClr val="14202B"/>
              </a:gs>
              <a:gs pos="55556">
                <a:srgbClr val="14202B">
                  <a:alpha val="0"/>
                </a:srgbClr>
              </a:gs>
              <a:gs pos="100000">
                <a:srgbClr val="000000">
                  <a:alpha val="0"/>
                </a:srgbClr>
              </a:gs>
            </a:gsLst>
            <a:lin ang="0" scaled="0"/>
          </a:gradFill>
          <a:ln/>
        </p:spPr>
      </p:sp>
      <p:sp>
        <p:nvSpPr>
          <p:cNvPr id="23" name="Text 21"/>
          <p:cNvSpPr/>
          <p:nvPr/>
        </p:nvSpPr>
        <p:spPr>
          <a:xfrm>
            <a:off x="1219200" y="5148461"/>
            <a:ext cx="6223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Average 5.58% · x-axis: invoices where the index went backwards, with client counts</a:t>
            </a:r>
            <a:endParaRPr lang="en-US" sz="1200" dirty="0"/>
          </a:p>
        </p:txBody>
      </p:sp>
      <p:sp>
        <p:nvSpPr>
          <p:cNvPr id="24" name="Text 22"/>
          <p:cNvSpPr/>
          <p:nvPr/>
        </p:nvSpPr>
        <p:spPr>
          <a:xfrm>
            <a:off x="7442200" y="1854150"/>
            <a:ext cx="405511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New reading lower than the old one</a:t>
            </a:r>
            <a:endParaRPr lang="en-US" sz="2000" dirty="0"/>
          </a:p>
        </p:txBody>
      </p:sp>
      <p:sp>
        <p:nvSpPr>
          <p:cNvPr id="25" name="Text 23"/>
          <p:cNvSpPr/>
          <p:nvPr/>
        </p:nvSpPr>
        <p:spPr>
          <a:xfrm>
            <a:off x="7442200" y="2616150"/>
            <a:ext cx="405511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0"/>
                </a:solidFill>
                <a:latin typeface="IBM Plex Sans" pitchFamily="34" charset="0"/>
                <a:ea typeface="IBM Plex Sans" pitchFamily="34" charset="-122"/>
                <a:cs typeface="IBM Plex Sans" pitchFamily="34" charset="-120"/>
              </a:rPr>
              <a:t>Only 1,816 clients ever show it, but their fraud rate is about 11%, twice the average.</a:t>
            </a:r>
            <a:endParaRPr lang="en-US" sz="1400" dirty="0"/>
          </a:p>
        </p:txBody>
      </p:sp>
      <p:sp>
        <p:nvSpPr>
          <p:cNvPr id="26" name="Shape 24"/>
          <p:cNvSpPr/>
          <p:nvPr/>
        </p:nvSpPr>
        <p:spPr>
          <a:xfrm>
            <a:off x="7442200" y="3284091"/>
            <a:ext cx="3937000" cy="1600200"/>
          </a:xfrm>
          <a:prstGeom prst="roundRect">
            <a:avLst>
              <a:gd name="adj" fmla="val 6349"/>
            </a:avLst>
          </a:prstGeom>
          <a:solidFill>
            <a:srgbClr val="14202B"/>
          </a:solidFill>
          <a:ln/>
        </p:spPr>
      </p:sp>
      <p:sp>
        <p:nvSpPr>
          <p:cNvPr id="27" name="Text 25"/>
          <p:cNvSpPr/>
          <p:nvPr/>
        </p:nvSpPr>
        <p:spPr>
          <a:xfrm>
            <a:off x="7645400" y="3461891"/>
            <a:ext cx="363651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6F3EC"/>
                </a:solidFill>
                <a:latin typeface="JetBrains Mono" pitchFamily="49" charset="0"/>
                <a:ea typeface="JetBrains Mono" pitchFamily="49" charset="-122"/>
                <a:cs typeface="JetBrains Mono" pitchFamily="49" charset="-120"/>
              </a:rPr>
              <a:t>negative = diff_index &lt; 0</a:t>
            </a:r>
            <a:endParaRPr lang="en-US" sz="1200" dirty="0"/>
          </a:p>
        </p:txBody>
      </p:sp>
      <p:sp>
        <p:nvSpPr>
          <p:cNvPr id="28" name="Text 26"/>
          <p:cNvSpPr/>
          <p:nvPr/>
        </p:nvSpPr>
        <p:spPr>
          <a:xfrm>
            <a:off x="7645400" y="3715891"/>
            <a:ext cx="363651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6F3EC"/>
                </a:solidFill>
                <a:latin typeface="JetBrains Mono" pitchFamily="49" charset="0"/>
                <a:ea typeface="JetBrains Mono" pitchFamily="49" charset="-122"/>
                <a:cs typeface="JetBrains Mono" pitchFamily="49" charset="-120"/>
              </a:rPr>
              <a:t>X["n_negative_diff"] =</a:t>
            </a:r>
            <a:endParaRPr lang="en-US" sz="1200" dirty="0"/>
          </a:p>
        </p:txBody>
      </p:sp>
      <p:sp>
        <p:nvSpPr>
          <p:cNvPr id="29" name="Text 27"/>
          <p:cNvSpPr/>
          <p:nvPr/>
        </p:nvSpPr>
        <p:spPr>
          <a:xfrm>
            <a:off x="7645400" y="3969891"/>
            <a:ext cx="363651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0A04B"/>
                </a:solidFill>
                <a:latin typeface="JetBrains Mono" pitchFamily="49" charset="0"/>
                <a:ea typeface="JetBrains Mono" pitchFamily="49" charset="-122"/>
                <a:cs typeface="JetBrains Mono" pitchFamily="49" charset="-120"/>
              </a:rPr>
              <a:t>  negative.groupby(client).sum()</a:t>
            </a:r>
            <a:endParaRPr lang="en-US" sz="1200" dirty="0"/>
          </a:p>
        </p:txBody>
      </p:sp>
      <p:sp>
        <p:nvSpPr>
          <p:cNvPr id="30" name="Text 28"/>
          <p:cNvSpPr/>
          <p:nvPr/>
        </p:nvSpPr>
        <p:spPr>
          <a:xfrm>
            <a:off x="7645400" y="4223891"/>
            <a:ext cx="363651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6F3EC"/>
                </a:solidFill>
                <a:latin typeface="JetBrains Mono" pitchFamily="49" charset="0"/>
                <a:ea typeface="JetBrains Mono" pitchFamily="49" charset="-122"/>
                <a:cs typeface="JetBrains Mono" pitchFamily="49" charset="-120"/>
              </a:rPr>
              <a:t>X["share_negative_diff"] =</a:t>
            </a:r>
            <a:endParaRPr lang="en-US" sz="1200" dirty="0"/>
          </a:p>
        </p:txBody>
      </p:sp>
      <p:sp>
        <p:nvSpPr>
          <p:cNvPr id="31" name="Text 29"/>
          <p:cNvSpPr/>
          <p:nvPr/>
        </p:nvSpPr>
        <p:spPr>
          <a:xfrm>
            <a:off x="7645400" y="4477891"/>
            <a:ext cx="363651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0A04B"/>
                </a:solidFill>
                <a:latin typeface="JetBrains Mono" pitchFamily="49" charset="0"/>
                <a:ea typeface="JetBrains Mono" pitchFamily="49" charset="-122"/>
                <a:cs typeface="JetBrains Mono" pitchFamily="49" charset="-120"/>
              </a:rPr>
              <a:t>  negative.groupby(client).mean()</a:t>
            </a:r>
            <a:endParaRPr lang="en-US" sz="1200" dirty="0"/>
          </a:p>
        </p:txBody>
      </p:sp>
      <p:sp>
        <p:nvSpPr>
          <p:cNvPr id="32" name="Text 30"/>
          <p:cNvSpPr/>
          <p:nvPr/>
        </p:nvSpPr>
        <p:spPr>
          <a:xfrm>
            <a:off x="7442200" y="5036691"/>
            <a:ext cx="40551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Count and share: 1 of 1 invoices is not the same as 1 of 50.</a:t>
            </a:r>
            <a:endParaRPr lang="en-US" sz="1200" dirty="0"/>
          </a:p>
        </p:txBody>
      </p:sp>
      <p:sp>
        <p:nvSpPr>
          <p:cNvPr id="33" name="Text 31"/>
          <p:cNvSpPr/>
          <p:nvPr/>
        </p:nvSpPr>
        <p:spPr>
          <a:xfrm>
            <a:off x="812800" y="6238280"/>
            <a:ext cx="1727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Catching meter fraud</a:t>
            </a:r>
            <a:endParaRPr lang="en-US" sz="1200" dirty="0"/>
          </a:p>
        </p:txBody>
      </p:sp>
      <p:sp>
        <p:nvSpPr>
          <p:cNvPr id="34" name="Text 32"/>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SIGNAL 4 · CONSUMPTION PATTERN</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Zero bills signal risk, drops alone do not</a:t>
            </a:r>
            <a:endParaRPr lang="en-US" sz="3200" dirty="0"/>
          </a:p>
        </p:txBody>
      </p:sp>
      <p:sp>
        <p:nvSpPr>
          <p:cNvPr id="4" name="Text 2"/>
          <p:cNvSpPr/>
          <p:nvPr/>
        </p:nvSpPr>
        <p:spPr>
          <a:xfrm>
            <a:off x="812800" y="1854150"/>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Zero-consumption bills</a:t>
            </a:r>
            <a:endParaRPr lang="en-US" sz="2000" dirty="0"/>
          </a:p>
        </p:txBody>
      </p:sp>
      <p:sp>
        <p:nvSpPr>
          <p:cNvPr id="5" name="Text 3"/>
          <p:cNvSpPr/>
          <p:nvPr/>
        </p:nvSpPr>
        <p:spPr>
          <a:xfrm>
            <a:off x="812800" y="2285950"/>
            <a:ext cx="1511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Has zero bills</a:t>
            </a:r>
            <a:endParaRPr lang="en-US" sz="1400" dirty="0"/>
          </a:p>
        </p:txBody>
      </p:sp>
      <p:sp>
        <p:nvSpPr>
          <p:cNvPr id="6" name="Text 4"/>
          <p:cNvSpPr/>
          <p:nvPr/>
        </p:nvSpPr>
        <p:spPr>
          <a:xfrm>
            <a:off x="812800" y="2560241"/>
            <a:ext cx="1511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72,626 clients</a:t>
            </a:r>
            <a:endParaRPr lang="en-US" sz="1200" dirty="0"/>
          </a:p>
        </p:txBody>
      </p:sp>
      <p:sp>
        <p:nvSpPr>
          <p:cNvPr id="7" name="Shape 5"/>
          <p:cNvSpPr/>
          <p:nvPr/>
        </p:nvSpPr>
        <p:spPr>
          <a:xfrm>
            <a:off x="2425700" y="2351931"/>
            <a:ext cx="2501900" cy="355600"/>
          </a:xfrm>
          <a:custGeom>
            <a:avLst/>
            <a:gdLst/>
            <a:ahLst/>
            <a:cxnLst/>
            <a:rect l="l" t="t" r="r" b="b"/>
            <a:pathLst>
              <a:path w="2501900" h="355600">
                <a:moveTo>
                  <a:pt x="0" y="0"/>
                </a:moveTo>
                <a:lnTo>
                  <a:pt x="2451100" y="0"/>
                </a:lnTo>
                <a:arcTo hR="50800" wR="50800" stAng="16200000" swAng="5400000"/>
                <a:lnTo>
                  <a:pt x="2501900" y="304800"/>
                </a:lnTo>
                <a:arcTo hR="50800" wR="50800" stAng="0" swAng="5400000"/>
                <a:lnTo>
                  <a:pt x="0" y="355600"/>
                </a:lnTo>
                <a:lnTo>
                  <a:pt x="0" y="0"/>
                </a:lnTo>
                <a:close/>
              </a:path>
            </a:pathLst>
          </a:custGeom>
          <a:solidFill>
            <a:srgbClr val="E8892F"/>
          </a:solidFill>
          <a:ln/>
        </p:spPr>
      </p:sp>
      <p:sp>
        <p:nvSpPr>
          <p:cNvPr id="8" name="Text 6"/>
          <p:cNvSpPr/>
          <p:nvPr/>
        </p:nvSpPr>
        <p:spPr>
          <a:xfrm>
            <a:off x="5029200" y="2405261"/>
            <a:ext cx="65270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7.17%</a:t>
            </a:r>
            <a:endParaRPr lang="en-US" sz="1400" dirty="0"/>
          </a:p>
        </p:txBody>
      </p:sp>
      <p:sp>
        <p:nvSpPr>
          <p:cNvPr id="9" name="Text 7"/>
          <p:cNvSpPr/>
          <p:nvPr/>
        </p:nvSpPr>
        <p:spPr>
          <a:xfrm>
            <a:off x="812800" y="2925961"/>
            <a:ext cx="1511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Never zero</a:t>
            </a:r>
            <a:endParaRPr lang="en-US" sz="1400" dirty="0"/>
          </a:p>
        </p:txBody>
      </p:sp>
      <p:sp>
        <p:nvSpPr>
          <p:cNvPr id="10" name="Text 8"/>
          <p:cNvSpPr/>
          <p:nvPr/>
        </p:nvSpPr>
        <p:spPr>
          <a:xfrm>
            <a:off x="812800" y="3200251"/>
            <a:ext cx="1511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62,867 clients</a:t>
            </a:r>
            <a:endParaRPr lang="en-US" sz="1200" dirty="0"/>
          </a:p>
        </p:txBody>
      </p:sp>
      <p:sp>
        <p:nvSpPr>
          <p:cNvPr id="11" name="Shape 9"/>
          <p:cNvSpPr/>
          <p:nvPr/>
        </p:nvSpPr>
        <p:spPr>
          <a:xfrm>
            <a:off x="2425700" y="2991941"/>
            <a:ext cx="1308100" cy="355600"/>
          </a:xfrm>
          <a:custGeom>
            <a:avLst/>
            <a:gdLst/>
            <a:ahLst/>
            <a:cxnLst/>
            <a:rect l="l" t="t" r="r" b="b"/>
            <a:pathLst>
              <a:path w="1308100" h="355600">
                <a:moveTo>
                  <a:pt x="0" y="0"/>
                </a:moveTo>
                <a:lnTo>
                  <a:pt x="1257300" y="0"/>
                </a:lnTo>
                <a:arcTo hR="50800" wR="50800" stAng="16200000" swAng="5400000"/>
                <a:lnTo>
                  <a:pt x="1308100" y="304800"/>
                </a:lnTo>
                <a:arcTo hR="50800" wR="50800" stAng="0" swAng="5400000"/>
                <a:lnTo>
                  <a:pt x="0" y="355600"/>
                </a:lnTo>
                <a:lnTo>
                  <a:pt x="0" y="0"/>
                </a:lnTo>
                <a:close/>
              </a:path>
            </a:pathLst>
          </a:custGeom>
          <a:solidFill>
            <a:srgbClr val="2F6DB5"/>
          </a:solidFill>
          <a:ln/>
        </p:spPr>
      </p:sp>
      <p:sp>
        <p:nvSpPr>
          <p:cNvPr id="12" name="Text 10"/>
          <p:cNvSpPr/>
          <p:nvPr/>
        </p:nvSpPr>
        <p:spPr>
          <a:xfrm>
            <a:off x="3835400" y="3045271"/>
            <a:ext cx="59471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3.75%</a:t>
            </a:r>
            <a:endParaRPr lang="en-US" sz="1400" dirty="0"/>
          </a:p>
        </p:txBody>
      </p:sp>
      <p:sp>
        <p:nvSpPr>
          <p:cNvPr id="13" name="Shape 11"/>
          <p:cNvSpPr/>
          <p:nvPr/>
        </p:nvSpPr>
        <p:spPr>
          <a:xfrm>
            <a:off x="4375150" y="2285950"/>
            <a:ext cx="19050" cy="1127621"/>
          </a:xfrm>
          <a:prstGeom prst="rect">
            <a:avLst/>
          </a:prstGeom>
          <a:gradFill rotWithShape="1">
            <a:gsLst>
              <a:gs pos="0">
                <a:srgbClr val="14202B"/>
              </a:gs>
              <a:gs pos="55556">
                <a:srgbClr val="14202B"/>
              </a:gs>
              <a:gs pos="55556">
                <a:srgbClr val="14202B">
                  <a:alpha val="0"/>
                </a:srgbClr>
              </a:gs>
              <a:gs pos="100000">
                <a:srgbClr val="000000">
                  <a:alpha val="0"/>
                </a:srgbClr>
              </a:gs>
            </a:gsLst>
            <a:lin ang="5400000" scaled="0"/>
          </a:gradFill>
          <a:ln/>
        </p:spPr>
      </p:sp>
      <p:sp>
        <p:nvSpPr>
          <p:cNvPr id="14" name="Shape 12"/>
          <p:cNvSpPr/>
          <p:nvPr/>
        </p:nvSpPr>
        <p:spPr>
          <a:xfrm>
            <a:off x="812800" y="3637707"/>
            <a:ext cx="304800" cy="19050"/>
          </a:xfrm>
          <a:prstGeom prst="rect">
            <a:avLst/>
          </a:prstGeom>
          <a:gradFill rotWithShape="1">
            <a:gsLst>
              <a:gs pos="0">
                <a:srgbClr val="14202B"/>
              </a:gs>
              <a:gs pos="55556">
                <a:srgbClr val="14202B"/>
              </a:gs>
              <a:gs pos="55556">
                <a:srgbClr val="14202B">
                  <a:alpha val="0"/>
                </a:srgbClr>
              </a:gs>
              <a:gs pos="100000">
                <a:srgbClr val="000000">
                  <a:alpha val="0"/>
                </a:srgbClr>
              </a:gs>
            </a:gsLst>
            <a:lin ang="0" scaled="0"/>
          </a:gradFill>
          <a:ln/>
        </p:spPr>
      </p:sp>
      <p:sp>
        <p:nvSpPr>
          <p:cNvPr id="15" name="Text 13"/>
          <p:cNvSpPr/>
          <p:nvPr/>
        </p:nvSpPr>
        <p:spPr>
          <a:xfrm>
            <a:off x="1219200" y="3540571"/>
            <a:ext cx="2154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Average fraud rate: 5.58%</a:t>
            </a:r>
            <a:endParaRPr lang="en-US" sz="1200" dirty="0"/>
          </a:p>
        </p:txBody>
      </p:sp>
      <p:sp>
        <p:nvSpPr>
          <p:cNvPr id="16" name="Text 14"/>
          <p:cNvSpPr/>
          <p:nvPr/>
        </p:nvSpPr>
        <p:spPr>
          <a:xfrm>
            <a:off x="812800" y="3931692"/>
            <a:ext cx="1136402" cy="17018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A9520C"/>
                </a:solidFill>
                <a:latin typeface="Space Grotesk" pitchFamily="34" charset="0"/>
                <a:ea typeface="Space Grotesk" pitchFamily="34" charset="-122"/>
                <a:cs typeface="Space Grotesk" pitchFamily="34" charset="-120"/>
              </a:rPr>
              <a:t>1.9×</a:t>
            </a:r>
            <a:endParaRPr lang="en-US" sz="6000" dirty="0"/>
          </a:p>
        </p:txBody>
      </p:sp>
      <p:sp>
        <p:nvSpPr>
          <p:cNvPr id="17" name="Text 15"/>
          <p:cNvSpPr/>
          <p:nvPr/>
        </p:nvSpPr>
        <p:spPr>
          <a:xfrm>
            <a:off x="2076202" y="4512121"/>
            <a:ext cx="3931096"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02B"/>
                </a:solidFill>
                <a:latin typeface="IBM Plex Sans" pitchFamily="34" charset="0"/>
                <a:ea typeface="IBM Plex Sans" pitchFamily="34" charset="-122"/>
                <a:cs typeface="IBM Plex Sans" pitchFamily="34" charset="-120"/>
              </a:rPr>
              <a:t>the fraud rate when a client has at least one zero-consumption bill</a:t>
            </a:r>
            <a:endParaRPr lang="en-US" sz="1400" dirty="0"/>
          </a:p>
        </p:txBody>
      </p:sp>
      <p:sp>
        <p:nvSpPr>
          <p:cNvPr id="18" name="Text 16"/>
          <p:cNvSpPr/>
          <p:nvPr/>
        </p:nvSpPr>
        <p:spPr>
          <a:xfrm>
            <a:off x="6299200" y="1854150"/>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Later vs earlier invoices</a:t>
            </a:r>
            <a:endParaRPr lang="en-US" sz="2000" dirty="0"/>
          </a:p>
        </p:txBody>
      </p:sp>
      <p:sp>
        <p:nvSpPr>
          <p:cNvPr id="19" name="Shape 17"/>
          <p:cNvSpPr/>
          <p:nvPr/>
        </p:nvSpPr>
        <p:spPr>
          <a:xfrm>
            <a:off x="6299200" y="2285950"/>
            <a:ext cx="5080000" cy="2082651"/>
          </a:xfrm>
          <a:prstGeom prst="roundRect">
            <a:avLst>
              <a:gd name="adj" fmla="val 4878"/>
            </a:avLst>
          </a:prstGeom>
          <a:solidFill>
            <a:srgbClr val="FCFAF5"/>
          </a:solidFill>
          <a:ln/>
        </p:spPr>
      </p:sp>
      <p:sp>
        <p:nvSpPr>
          <p:cNvPr id="20" name="Shape 18"/>
          <p:cNvSpPr/>
          <p:nvPr/>
        </p:nvSpPr>
        <p:spPr>
          <a:xfrm>
            <a:off x="6299200" y="2285950"/>
            <a:ext cx="5080000" cy="2082651"/>
          </a:xfrm>
          <a:custGeom>
            <a:avLst/>
            <a:gdLst/>
            <a:ahLst/>
            <a:cxnLst/>
            <a:rect l="l" t="t" r="r" b="b"/>
            <a:pathLst>
              <a:path w="5080000" h="2082651">
                <a:moveTo>
                  <a:pt x="101600" y="2082651"/>
                </a:moveTo>
                <a:lnTo>
                  <a:pt x="101600" y="2082651"/>
                </a:lnTo>
                <a:arcTo hR="101600" wR="101600" stAng="5400000" swAng="5400000"/>
                <a:lnTo>
                  <a:pt x="0" y="101600"/>
                </a:lnTo>
                <a:arcTo hR="101600" wR="101600" stAng="10800000" swAng="5400000"/>
                <a:lnTo>
                  <a:pt x="4978400" y="0"/>
                </a:lnTo>
                <a:arcTo hR="101600" wR="101600" stAng="16200000" swAng="5400000"/>
                <a:lnTo>
                  <a:pt x="5080000" y="101600"/>
                </a:lnTo>
                <a:arcTo hR="88900" wR="101600" stAng="0" swAng="-5400000"/>
                <a:lnTo>
                  <a:pt x="101600" y="12700"/>
                </a:lnTo>
                <a:arcTo hR="88900" wR="88900" stAng="16200000" swAng="-5400000"/>
                <a:lnTo>
                  <a:pt x="12700" y="1981051"/>
                </a:lnTo>
                <a:arcTo hR="101600" wR="88900" stAng="10800000" swAng="-5400000"/>
                <a:close/>
              </a:path>
            </a:pathLst>
          </a:custGeom>
          <a:solidFill>
            <a:srgbClr val="141413">
              <a:alpha val="22000"/>
            </a:srgbClr>
          </a:solidFill>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311900" y="2298650"/>
          <a:ext cx="5067300" cy="2069951"/>
        </p:xfrm>
        <a:graphic>
          <a:graphicData uri="http://schemas.openxmlformats.org/drawingml/2006/table">
            <a:tbl>
              <a:tblPr/>
              <a:tblGrid>
                <a:gridCol w="2634996"/>
                <a:gridCol w="1114806"/>
                <a:gridCol w="1317498"/>
              </a:tblGrid>
              <a:tr h="413990">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Consumption change</a:t>
                      </a:r>
                      <a:endParaRPr lang="en-US" sz="1400" dirty="0">
                        <a:latin typeface="IBM Plex Sans" charset="0"/>
                        <a:ea typeface="IBM Plex Sans" charset="0"/>
                        <a:cs typeface="IBM Plex Sans" charset="0"/>
                      </a:endParaRPr>
                    </a:p>
                  </a:txBody>
                  <a:tcPr marL="127000" marR="127000" marT="76200" marB="76200" anchor="t">
                    <a:lnL w="0" cap="flat" cmpd="sng" algn="ctr">
                      <a:noFill/>
                    </a:lnL>
                    <a:lnR w="12700" cap="flat" cmpd="sng" algn="ctr">
                      <a:solidFill>
                        <a:srgbClr val="141D26"/>
                      </a:solidFill>
                      <a:prstDash val="solid"/>
                      <a:round/>
                      <a:headEnd type="none" w="med" len="med"/>
                      <a:tailEnd type="none" w="med" len="med"/>
                    </a:lnR>
                    <a:lnT w="0" cap="flat" cmpd="sng" algn="ctr">
                      <a:noFill/>
                    </a:lnT>
                    <a:lnB w="12700" cap="flat" cmpd="sng" algn="ctr">
                      <a:solidFill>
                        <a:srgbClr val="141D26"/>
                      </a:solidFill>
                      <a:prstDash val="solid"/>
                      <a:round/>
                      <a:headEnd type="none" w="med" len="med"/>
                      <a:tailEnd type="none" w="med" len="med"/>
                    </a:lnB>
                    <a:solidFill>
                      <a:srgbClr val="14202B"/>
                    </a:solidFill>
                  </a:tcPr>
                </a:tc>
                <a:tc>
                  <a:txBody>
                    <a:bodyPr/>
                    <a:lstStyle/>
                    <a:p>
                      <a:pPr algn="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Clients</a:t>
                      </a:r>
                      <a:endParaRPr lang="en-US" sz="1400" dirty="0">
                        <a:latin typeface="IBM Plex Sans" charset="0"/>
                        <a:ea typeface="IBM Plex Sans" charset="0"/>
                        <a:cs typeface="IBM Plex Sans" charset="0"/>
                      </a:endParaRPr>
                    </a:p>
                  </a:txBody>
                  <a:tcPr marL="127000" marR="127000" marT="76200" marB="7620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0" cap="flat" cmpd="sng" algn="ctr">
                      <a:noFill/>
                    </a:lnT>
                    <a:lnB w="12700" cap="flat" cmpd="sng" algn="ctr">
                      <a:solidFill>
                        <a:srgbClr val="141D26"/>
                      </a:solidFill>
                      <a:prstDash val="solid"/>
                      <a:round/>
                      <a:headEnd type="none" w="med" len="med"/>
                      <a:tailEnd type="none" w="med" len="med"/>
                    </a:lnB>
                    <a:solidFill>
                      <a:srgbClr val="14202B"/>
                    </a:solidFill>
                  </a:tcPr>
                </a:tc>
                <a:tc>
                  <a:txBody>
                    <a:bodyPr/>
                    <a:lstStyle/>
                    <a:p>
                      <a:pPr algn="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Fraud rate</a:t>
                      </a:r>
                      <a:endParaRPr lang="en-US" sz="1400" dirty="0">
                        <a:latin typeface="IBM Plex Sans" charset="0"/>
                        <a:ea typeface="IBM Plex Sans" charset="0"/>
                        <a:cs typeface="IBM Plex Sans" charset="0"/>
                      </a:endParaRPr>
                    </a:p>
                  </a:txBody>
                  <a:tcPr marL="127000" marR="127000" marT="76200" marB="7620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0" cap="flat" cmpd="sng" algn="ctr">
                      <a:noFill/>
                    </a:lnT>
                    <a:lnB w="12700" cap="flat" cmpd="sng" algn="ctr">
                      <a:solidFill>
                        <a:srgbClr val="141D26"/>
                      </a:solidFill>
                      <a:prstDash val="solid"/>
                      <a:round/>
                      <a:headEnd type="none" w="med" len="med"/>
                      <a:tailEnd type="none" w="med" len="med"/>
                    </a:lnB>
                    <a:solidFill>
                      <a:srgbClr val="14202B"/>
                    </a:solidFill>
                  </a:tcPr>
                </a:tc>
              </a:tr>
              <a:tr h="413990">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Drop over 50%</a:t>
                      </a:r>
                      <a:endParaRPr lang="en-US" sz="1400" dirty="0">
                        <a:latin typeface="IBM Plex Sans" charset="0"/>
                        <a:ea typeface="IBM Plex Sans" charset="0"/>
                        <a:cs typeface="IBM Plex Sans" charset="0"/>
                      </a:endParaRPr>
                    </a:p>
                  </a:txBody>
                  <a:tcPr marL="127000" marR="127000" marT="76200" marB="76200" anchor="t">
                    <a:lnL w="0" cap="flat" cmpd="sng" algn="ctr">
                      <a:noFill/>
                    </a:lnL>
                    <a:lnR w="12700" cap="flat" cmpd="sng" algn="ctr">
                      <a:solidFill>
                        <a:srgbClr val="C9C7C3"/>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7C3"/>
                      </a:solidFill>
                      <a:prstDash val="solid"/>
                      <a:round/>
                      <a:headEnd type="none" w="med" len="med"/>
                      <a:tailEnd type="none" w="med" len="med"/>
                    </a:lnB>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16,223</a:t>
                      </a:r>
                      <a:endParaRPr lang="en-US" sz="1400" dirty="0">
                        <a:latin typeface="IBM Plex Sans" charset="0"/>
                        <a:ea typeface="IBM Plex Sans" charset="0"/>
                        <a:cs typeface="IBM Plex Sans" charset="0"/>
                      </a:endParaRPr>
                    </a:p>
                  </a:txBody>
                  <a:tcPr marL="127000" marR="127000" marT="76200" marB="76200" anchor="t">
                    <a:lnL w="12700" cap="flat" cmpd="sng" algn="ctr">
                      <a:solidFill>
                        <a:srgbClr val="C9C7C3"/>
                      </a:solidFill>
                      <a:prstDash val="solid"/>
                      <a:round/>
                      <a:headEnd type="none" w="med" len="med"/>
                      <a:tailEnd type="none" w="med" len="med"/>
                    </a:lnL>
                    <a:lnR w="12700" cap="flat" cmpd="sng" algn="ctr">
                      <a:solidFill>
                        <a:srgbClr val="C9C7C3"/>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7C3"/>
                      </a:solidFill>
                      <a:prstDash val="solid"/>
                      <a:round/>
                      <a:headEnd type="none" w="med" len="med"/>
                      <a:tailEnd type="none" w="med" len="med"/>
                    </a:lnB>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4.89%</a:t>
                      </a:r>
                      <a:endParaRPr lang="en-US" sz="1400" dirty="0">
                        <a:latin typeface="IBM Plex Sans" charset="0"/>
                        <a:ea typeface="IBM Plex Sans" charset="0"/>
                        <a:cs typeface="IBM Plex Sans" charset="0"/>
                      </a:endParaRPr>
                    </a:p>
                  </a:txBody>
                  <a:tcPr marL="127000" marR="127000" marT="76200" marB="76200" anchor="t">
                    <a:lnL w="12700" cap="flat" cmpd="sng" algn="ctr">
                      <a:solidFill>
                        <a:srgbClr val="C9C7C3"/>
                      </a:solidFill>
                      <a:prstDash val="solid"/>
                      <a:round/>
                      <a:headEnd type="none" w="med" len="med"/>
                      <a:tailEnd type="none" w="med" len="med"/>
                    </a:lnL>
                    <a:lnR w="12700" cap="flat" cmpd="sng" algn="ctr">
                      <a:solidFill>
                        <a:srgbClr val="C9C7C3"/>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7C3"/>
                      </a:solidFill>
                      <a:prstDash val="solid"/>
                      <a:round/>
                      <a:headEnd type="none" w="med" len="med"/>
                      <a:tailEnd type="none" w="med" len="med"/>
                    </a:lnB>
                  </a:tcPr>
                </a:tc>
              </a:tr>
              <a:tr h="413990">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Drop 10–50%</a:t>
                      </a:r>
                      <a:endParaRPr lang="en-US" sz="1400" dirty="0">
                        <a:latin typeface="IBM Plex Sans" charset="0"/>
                        <a:ea typeface="IBM Plex Sans" charset="0"/>
                        <a:cs typeface="IBM Plex Sans" charset="0"/>
                      </a:endParaRPr>
                    </a:p>
                  </a:txBody>
                  <a:tcPr marL="127000" marR="127000" marT="76200" marB="76200" anchor="t">
                    <a:lnL w="0" cap="flat" cmpd="sng" algn="ctr">
                      <a:noFill/>
                    </a:lnL>
                    <a:lnR w="12700" cap="flat" cmpd="sng" algn="ctr">
                      <a:solidFill>
                        <a:srgbClr val="C0BCB4"/>
                      </a:solidFill>
                      <a:prstDash val="solid"/>
                      <a:round/>
                      <a:headEnd type="none" w="med" len="med"/>
                      <a:tailEnd type="none" w="med" len="med"/>
                    </a:lnR>
                    <a:lnT w="12700" cap="flat" cmpd="sng" algn="ctr">
                      <a:solidFill>
                        <a:srgbClr val="C9C7C3"/>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2"/>
                    </a:solidFill>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31,275</a:t>
                      </a:r>
                      <a:endParaRPr lang="en-US" sz="1400" dirty="0">
                        <a:latin typeface="IBM Plex Sans" charset="0"/>
                        <a:ea typeface="IBM Plex Sans" charset="0"/>
                        <a:cs typeface="IBM Plex Sans" charset="0"/>
                      </a:endParaRPr>
                    </a:p>
                  </a:txBody>
                  <a:tcPr marL="127000" marR="127000" marT="76200" marB="7620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9C7C3"/>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2"/>
                    </a:solidFill>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6.16%</a:t>
                      </a:r>
                      <a:endParaRPr lang="en-US" sz="1400" dirty="0">
                        <a:latin typeface="IBM Plex Sans" charset="0"/>
                        <a:ea typeface="IBM Plex Sans" charset="0"/>
                        <a:cs typeface="IBM Plex Sans" charset="0"/>
                      </a:endParaRPr>
                    </a:p>
                  </a:txBody>
                  <a:tcPr marL="127000" marR="127000" marT="76200" marB="7620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9C7C3"/>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2"/>
                    </a:solidFill>
                  </a:tcPr>
                </a:tc>
              </a:tr>
              <a:tr h="413990">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Stable (±10%)</a:t>
                      </a:r>
                      <a:endParaRPr lang="en-US" sz="1400" dirty="0">
                        <a:latin typeface="IBM Plex Sans" charset="0"/>
                        <a:ea typeface="IBM Plex Sans" charset="0"/>
                        <a:cs typeface="IBM Plex Sans" charset="0"/>
                      </a:endParaRPr>
                    </a:p>
                  </a:txBody>
                  <a:tcPr marL="127000" marR="127000" marT="76200" marB="76200" anchor="t">
                    <a:lnL w="0" cap="flat" cmpd="sng" algn="ctr">
                      <a:noFill/>
                    </a:lnL>
                    <a:lnR w="12700" cap="flat" cmpd="sng" algn="ctr">
                      <a:solidFill>
                        <a:srgbClr val="C9C7C3"/>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9C7C3"/>
                      </a:solidFill>
                      <a:prstDash val="solid"/>
                      <a:round/>
                      <a:headEnd type="none" w="med" len="med"/>
                      <a:tailEnd type="none" w="med" len="med"/>
                    </a:lnB>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25,973</a:t>
                      </a:r>
                      <a:endParaRPr lang="en-US" sz="1400" dirty="0">
                        <a:latin typeface="IBM Plex Sans" charset="0"/>
                        <a:ea typeface="IBM Plex Sans" charset="0"/>
                        <a:cs typeface="IBM Plex Sans" charset="0"/>
                      </a:endParaRPr>
                    </a:p>
                  </a:txBody>
                  <a:tcPr marL="127000" marR="127000" marT="76200" marB="76200" anchor="t">
                    <a:lnL w="12700" cap="flat" cmpd="sng" algn="ctr">
                      <a:solidFill>
                        <a:srgbClr val="C9C7C3"/>
                      </a:solidFill>
                      <a:prstDash val="solid"/>
                      <a:round/>
                      <a:headEnd type="none" w="med" len="med"/>
                      <a:tailEnd type="none" w="med" len="med"/>
                    </a:lnL>
                    <a:lnR w="12700" cap="flat" cmpd="sng" algn="ctr">
                      <a:solidFill>
                        <a:srgbClr val="C9C7C3"/>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9C7C3"/>
                      </a:solidFill>
                      <a:prstDash val="solid"/>
                      <a:round/>
                      <a:headEnd type="none" w="med" len="med"/>
                      <a:tailEnd type="none" w="med" len="med"/>
                    </a:lnB>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4.40%</a:t>
                      </a:r>
                      <a:endParaRPr lang="en-US" sz="1400" dirty="0">
                        <a:latin typeface="IBM Plex Sans" charset="0"/>
                        <a:ea typeface="IBM Plex Sans" charset="0"/>
                        <a:cs typeface="IBM Plex Sans" charset="0"/>
                      </a:endParaRPr>
                    </a:p>
                  </a:txBody>
                  <a:tcPr marL="127000" marR="127000" marT="76200" marB="76200" anchor="t">
                    <a:lnL w="12700" cap="flat" cmpd="sng" algn="ctr">
                      <a:solidFill>
                        <a:srgbClr val="C9C7C3"/>
                      </a:solidFill>
                      <a:prstDash val="solid"/>
                      <a:round/>
                      <a:headEnd type="none" w="med" len="med"/>
                      <a:tailEnd type="none" w="med" len="med"/>
                    </a:lnL>
                    <a:lnR w="12700" cap="flat" cmpd="sng" algn="ctr">
                      <a:solidFill>
                        <a:srgbClr val="C9C7C3"/>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9C7C3"/>
                      </a:solidFill>
                      <a:prstDash val="solid"/>
                      <a:round/>
                      <a:headEnd type="none" w="med" len="med"/>
                      <a:tailEnd type="none" w="med" len="med"/>
                    </a:lnB>
                  </a:tcPr>
                </a:tc>
              </a:tr>
              <a:tr h="413990">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Increase over 10%</a:t>
                      </a:r>
                      <a:endParaRPr lang="en-US" sz="1400" dirty="0">
                        <a:latin typeface="IBM Plex Sans" charset="0"/>
                        <a:ea typeface="IBM Plex Sans" charset="0"/>
                        <a:cs typeface="IBM Plex Sans" charset="0"/>
                      </a:endParaRPr>
                    </a:p>
                  </a:txBody>
                  <a:tcPr marL="127000" marR="127000" marT="76200" marB="76200" anchor="t">
                    <a:lnL w="0" cap="flat" cmpd="sng" algn="ctr">
                      <a:noFill/>
                    </a:lnL>
                    <a:lnR w="12700" cap="flat" cmpd="sng" algn="ctr">
                      <a:solidFill>
                        <a:srgbClr val="C0BCB4"/>
                      </a:solidFill>
                      <a:prstDash val="solid"/>
                      <a:round/>
                      <a:headEnd type="none" w="med" len="med"/>
                      <a:tailEnd type="none" w="med" len="med"/>
                    </a:lnR>
                    <a:lnT w="12700" cap="flat" cmpd="sng" algn="ctr">
                      <a:solidFill>
                        <a:srgbClr val="C9C7C3"/>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2"/>
                    </a:solidFill>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62,022</a:t>
                      </a:r>
                      <a:endParaRPr lang="en-US" sz="1400" dirty="0">
                        <a:latin typeface="IBM Plex Sans" charset="0"/>
                        <a:ea typeface="IBM Plex Sans" charset="0"/>
                        <a:cs typeface="IBM Plex Sans" charset="0"/>
                      </a:endParaRPr>
                    </a:p>
                  </a:txBody>
                  <a:tcPr marL="127000" marR="127000" marT="76200" marB="7620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9C7C3"/>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2"/>
                    </a:solidFill>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5.97%</a:t>
                      </a:r>
                      <a:endParaRPr lang="en-US" sz="1400" dirty="0">
                        <a:latin typeface="IBM Plex Sans" charset="0"/>
                        <a:ea typeface="IBM Plex Sans" charset="0"/>
                        <a:cs typeface="IBM Plex Sans" charset="0"/>
                      </a:endParaRPr>
                    </a:p>
                  </a:txBody>
                  <a:tcPr marL="127000" marR="127000" marT="76200" marB="7620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9C7C3"/>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2"/>
                    </a:solidFill>
                  </a:tcPr>
                </a:tc>
              </a:tr>
            </a:tbl>
          </a:graphicData>
        </a:graphic>
      </p:graphicFrame>
      <p:sp>
        <p:nvSpPr>
          <p:cNvPr id="22" name="Text 19"/>
          <p:cNvSpPr/>
          <p:nvPr/>
        </p:nvSpPr>
        <p:spPr>
          <a:xfrm>
            <a:off x="6299200" y="4495602"/>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change = (late − early) / (early + 1)</a:t>
            </a:r>
            <a:endParaRPr lang="en-US" sz="1200" dirty="0"/>
          </a:p>
        </p:txBody>
      </p:sp>
      <p:sp>
        <p:nvSpPr>
          <p:cNvPr id="23" name="Text 20"/>
          <p:cNvSpPr/>
          <p:nvPr/>
        </p:nvSpPr>
        <p:spPr>
          <a:xfrm>
            <a:off x="6299200" y="4835922"/>
            <a:ext cx="523240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02B"/>
                </a:solidFill>
                <a:latin typeface="IBM Plex Sans" pitchFamily="34" charset="0"/>
                <a:ea typeface="IBM Plex Sans" pitchFamily="34" charset="-122"/>
                <a:cs typeface="IBM Plex Sans" pitchFamily="34" charset="-120"/>
              </a:rPr>
              <a:t>No clean “tampered meter” drop on its own. We kept it as a model input.</a:t>
            </a:r>
            <a:endParaRPr lang="en-US" sz="1400" dirty="0"/>
          </a:p>
        </p:txBody>
      </p:sp>
      <p:sp>
        <p:nvSpPr>
          <p:cNvPr id="24" name="Text 21"/>
          <p:cNvSpPr/>
          <p:nvPr/>
        </p:nvSpPr>
        <p:spPr>
          <a:xfrm>
            <a:off x="812800" y="6238280"/>
            <a:ext cx="1727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Catching meter fraud</a:t>
            </a:r>
            <a:endParaRPr lang="en-US" sz="1200" dirty="0"/>
          </a:p>
        </p:txBody>
      </p:sp>
      <p:sp>
        <p:nvSpPr>
          <p:cNvPr id="25" name="Text 22"/>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FEATURE SET · WHAT CHANGED</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3 columns dropped, 11 features added</a:t>
            </a:r>
            <a:endParaRPr lang="en-US" sz="3200" dirty="0"/>
          </a:p>
        </p:txBody>
      </p:sp>
      <p:sp>
        <p:nvSpPr>
          <p:cNvPr id="4" name="Shape 2"/>
          <p:cNvSpPr/>
          <p:nvPr/>
        </p:nvSpPr>
        <p:spPr>
          <a:xfrm>
            <a:off x="815975" y="1857325"/>
            <a:ext cx="3981450" cy="3813572"/>
          </a:xfrm>
          <a:prstGeom prst="roundRect">
            <a:avLst>
              <a:gd name="adj" fmla="val 3247"/>
            </a:avLst>
          </a:prstGeom>
          <a:solidFill>
            <a:srgbClr val="FFFFFF"/>
          </a:solidFill>
          <a:ln w="6350">
            <a:solidFill>
              <a:srgbClr val="E3DED3"/>
            </a:solidFill>
            <a:prstDash val="solid"/>
          </a:ln>
        </p:spPr>
      </p:sp>
      <p:pic>
        <p:nvPicPr>
          <p:cNvPr id="5" name="Image 0" descr="Pearson correlation heatmap of the final 25 features, from the notebook">    </p:cNvPr>
          <p:cNvPicPr>
            <a:picLocks noChangeAspect="1"/>
          </p:cNvPicPr>
          <p:nvPr/>
        </p:nvPicPr>
        <p:blipFill>
          <a:blip r:embed="rId1"/>
          <a:srcRect l="-49" r="-49" t="0" b="0"/>
          <a:stretch/>
        </p:blipFill>
        <p:spPr>
          <a:xfrm>
            <a:off x="971550" y="2012900"/>
            <a:ext cx="3683000" cy="3086100"/>
          </a:xfrm>
          <a:prstGeom prst="rect">
            <a:avLst/>
          </a:prstGeom>
        </p:spPr>
      </p:pic>
      <p:sp>
        <p:nvSpPr>
          <p:cNvPr id="6" name="Text 3"/>
          <p:cNvSpPr/>
          <p:nvPr/>
        </p:nvSpPr>
        <p:spPr>
          <a:xfrm>
            <a:off x="971550" y="5175200"/>
            <a:ext cx="37804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Correlation of the final 25 features</a:t>
            </a:r>
            <a:endParaRPr lang="en-US" sz="1200" dirty="0"/>
          </a:p>
        </p:txBody>
      </p:sp>
      <p:sp>
        <p:nvSpPr>
          <p:cNvPr id="7" name="Text 4"/>
          <p:cNvSpPr/>
          <p:nvPr/>
        </p:nvSpPr>
        <p:spPr>
          <a:xfrm>
            <a:off x="5207000" y="1854150"/>
            <a:ext cx="635736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Dropped: near-duplicates</a:t>
            </a:r>
            <a:endParaRPr lang="en-US" sz="2000" dirty="0"/>
          </a:p>
        </p:txBody>
      </p:sp>
      <p:sp>
        <p:nvSpPr>
          <p:cNvPr id="8" name="Text 5"/>
          <p:cNvSpPr/>
          <p:nvPr/>
        </p:nvSpPr>
        <p:spPr>
          <a:xfrm>
            <a:off x="5207000" y="2235150"/>
            <a:ext cx="1460500" cy="238720"/>
          </a:xfrm>
          <a:prstGeom prst="roundRect">
            <a:avLst>
              <a:gd name="adj" fmla="val 21280"/>
            </a:avLst>
          </a:prstGeom>
          <a:solidFill>
            <a:srgbClr val="F3DFC8"/>
          </a:solidFill>
          <a:ln/>
        </p:spPr>
        <p:txBody>
          <a:bodyPr wrap="square" lIns="61321" tIns="0" rIns="10521" bIns="0" rtlCol="0" anchor="t">
            <a:normAutofit/>
          </a:bodyPr>
          <a:lstStyle/>
          <a:p>
            <a:pPr algn="l" indent="0" marL="0">
              <a:lnSpc>
                <a:spcPts val="1680"/>
              </a:lnSpc>
              <a:buNone/>
            </a:pPr>
            <a:r>
              <a:rPr lang="en-US" sz="1200" b="1" strike="sngStrike" dirty="0">
                <a:solidFill>
                  <a:srgbClr val="14202B"/>
                </a:solidFill>
                <a:latin typeface="JetBrains Mono" pitchFamily="49" charset="0"/>
                <a:ea typeface="JetBrains Mono" pitchFamily="49" charset="-122"/>
                <a:cs typeface="JetBrains Mono" pitchFamily="49" charset="-120"/>
              </a:rPr>
              <a:t>tarif_type</a:t>
            </a:r>
            <a:endParaRPr lang="en-US" sz="1200" dirty="0"/>
          </a:p>
        </p:txBody>
      </p:sp>
      <p:sp>
        <p:nvSpPr>
          <p:cNvPr id="9" name="Text 6"/>
          <p:cNvSpPr/>
          <p:nvPr/>
        </p:nvSpPr>
        <p:spPr>
          <a:xfrm>
            <a:off x="6794500" y="2235150"/>
            <a:ext cx="4722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99.6% correlated with counter_type, which we keep</a:t>
            </a:r>
            <a:endParaRPr lang="en-US" sz="1200" dirty="0"/>
          </a:p>
        </p:txBody>
      </p:sp>
      <p:sp>
        <p:nvSpPr>
          <p:cNvPr id="10" name="Text 7"/>
          <p:cNvSpPr/>
          <p:nvPr/>
        </p:nvSpPr>
        <p:spPr>
          <a:xfrm>
            <a:off x="5207000" y="2550071"/>
            <a:ext cx="1460500" cy="238720"/>
          </a:xfrm>
          <a:prstGeom prst="roundRect">
            <a:avLst>
              <a:gd name="adj" fmla="val 21280"/>
            </a:avLst>
          </a:prstGeom>
          <a:solidFill>
            <a:srgbClr val="F3DFC8"/>
          </a:solidFill>
          <a:ln/>
        </p:spPr>
        <p:txBody>
          <a:bodyPr wrap="square" lIns="61321" tIns="0" rIns="10521" bIns="0" rtlCol="0" anchor="t">
            <a:normAutofit/>
          </a:bodyPr>
          <a:lstStyle/>
          <a:p>
            <a:pPr algn="l" indent="0" marL="0">
              <a:lnSpc>
                <a:spcPts val="1680"/>
              </a:lnSpc>
              <a:buNone/>
            </a:pPr>
            <a:r>
              <a:rPr lang="en-US" sz="1200" b="1" strike="sngStrike" dirty="0">
                <a:solidFill>
                  <a:srgbClr val="14202B"/>
                </a:solidFill>
                <a:latin typeface="JetBrains Mono" pitchFamily="49" charset="0"/>
                <a:ea typeface="JetBrains Mono" pitchFamily="49" charset="-122"/>
                <a:cs typeface="JetBrains Mono" pitchFamily="49" charset="-120"/>
              </a:rPr>
              <a:t>new_index</a:t>
            </a:r>
            <a:endParaRPr lang="en-US" sz="1200" dirty="0"/>
          </a:p>
        </p:txBody>
      </p:sp>
      <p:sp>
        <p:nvSpPr>
          <p:cNvPr id="11" name="Text 8"/>
          <p:cNvSpPr/>
          <p:nvPr/>
        </p:nvSpPr>
        <p:spPr>
          <a:xfrm>
            <a:off x="6794500" y="2550071"/>
            <a:ext cx="47222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99.3% correlated with old_index; their difference became a feature</a:t>
            </a:r>
            <a:endParaRPr lang="en-US" sz="1200" dirty="0"/>
          </a:p>
        </p:txBody>
      </p:sp>
      <p:sp>
        <p:nvSpPr>
          <p:cNvPr id="12" name="Text 9"/>
          <p:cNvSpPr/>
          <p:nvPr/>
        </p:nvSpPr>
        <p:spPr>
          <a:xfrm>
            <a:off x="5207000" y="3052911"/>
            <a:ext cx="1460500" cy="238720"/>
          </a:xfrm>
          <a:prstGeom prst="roundRect">
            <a:avLst>
              <a:gd name="adj" fmla="val 21280"/>
            </a:avLst>
          </a:prstGeom>
          <a:solidFill>
            <a:srgbClr val="F3DFC8"/>
          </a:solidFill>
          <a:ln/>
        </p:spPr>
        <p:txBody>
          <a:bodyPr wrap="square" lIns="61321" tIns="0" rIns="10521" bIns="0" rtlCol="0" anchor="t">
            <a:normAutofit/>
          </a:bodyPr>
          <a:lstStyle/>
          <a:p>
            <a:pPr algn="l" indent="0" marL="0">
              <a:lnSpc>
                <a:spcPts val="1680"/>
              </a:lnSpc>
              <a:buNone/>
            </a:pPr>
            <a:r>
              <a:rPr lang="en-US" sz="1200" b="1" strike="sngStrike" dirty="0">
                <a:solidFill>
                  <a:srgbClr val="14202B"/>
                </a:solidFill>
                <a:latin typeface="JetBrains Mono" pitchFamily="49" charset="0"/>
                <a:ea typeface="JetBrains Mono" pitchFamily="49" charset="-122"/>
                <a:cs typeface="JetBrains Mono" pitchFamily="49" charset="-120"/>
              </a:rPr>
              <a:t>disrict</a:t>
            </a:r>
            <a:endParaRPr lang="en-US" sz="1200" dirty="0"/>
          </a:p>
        </p:txBody>
      </p:sp>
      <p:sp>
        <p:nvSpPr>
          <p:cNvPr id="13" name="Text 10"/>
          <p:cNvSpPr/>
          <p:nvPr/>
        </p:nvSpPr>
        <p:spPr>
          <a:xfrm>
            <a:off x="6794500" y="3052911"/>
            <a:ext cx="4722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a coarser version of region, which we keep</a:t>
            </a:r>
            <a:endParaRPr lang="en-US" sz="1200" dirty="0"/>
          </a:p>
        </p:txBody>
      </p:sp>
      <p:sp>
        <p:nvSpPr>
          <p:cNvPr id="14" name="Text 11"/>
          <p:cNvSpPr/>
          <p:nvPr/>
        </p:nvSpPr>
        <p:spPr>
          <a:xfrm>
            <a:off x="5207000" y="3367832"/>
            <a:ext cx="635736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Tested but kept: counter_code and counter_statue. Dropping them flagged about 800 more honest clients.</a:t>
            </a:r>
            <a:endParaRPr lang="en-US" sz="1200" dirty="0"/>
          </a:p>
        </p:txBody>
      </p:sp>
      <p:sp>
        <p:nvSpPr>
          <p:cNvPr id="15" name="Text 12"/>
          <p:cNvSpPr/>
          <p:nvPr/>
        </p:nvSpPr>
        <p:spPr>
          <a:xfrm>
            <a:off x="5207000" y="3997672"/>
            <a:ext cx="635736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Added: 11 engineered features</a:t>
            </a:r>
            <a:endParaRPr lang="en-US" sz="2000" dirty="0"/>
          </a:p>
        </p:txBody>
      </p:sp>
      <p:sp>
        <p:nvSpPr>
          <p:cNvPr id="16" name="Text 13"/>
          <p:cNvSpPr/>
          <p:nvPr/>
        </p:nvSpPr>
        <p:spPr>
          <a:xfrm>
            <a:off x="5207000" y="4378672"/>
            <a:ext cx="1511300"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A9520C"/>
                </a:solidFill>
                <a:latin typeface="IBM Plex Sans" pitchFamily="34" charset="0"/>
                <a:ea typeface="IBM Plex Sans" pitchFamily="34" charset="-122"/>
                <a:cs typeface="IBM Plex Sans" pitchFamily="34" charset="-120"/>
              </a:rPr>
              <a:t>Meter index</a:t>
            </a:r>
            <a:endParaRPr lang="en-US" sz="1200" dirty="0"/>
          </a:p>
        </p:txBody>
      </p:sp>
      <p:sp>
        <p:nvSpPr>
          <p:cNvPr id="17" name="Text 14"/>
          <p:cNvSpPr/>
          <p:nvPr/>
        </p:nvSpPr>
        <p:spPr>
          <a:xfrm>
            <a:off x="6794500" y="4378672"/>
            <a:ext cx="472224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4202B"/>
                </a:solidFill>
                <a:latin typeface="JetBrains Mono" pitchFamily="49" charset="0"/>
                <a:ea typeface="JetBrains Mono" pitchFamily="49" charset="-122"/>
                <a:cs typeface="JetBrains Mono" pitchFamily="49" charset="-120"/>
              </a:rPr>
              <a:t>mean_diff_index · n_negative_diff · share_negative_diff</a:t>
            </a:r>
            <a:endParaRPr lang="en-US" sz="1200" dirty="0"/>
          </a:p>
        </p:txBody>
      </p:sp>
      <p:sp>
        <p:nvSpPr>
          <p:cNvPr id="18" name="Text 15"/>
          <p:cNvSpPr/>
          <p:nvPr/>
        </p:nvSpPr>
        <p:spPr>
          <a:xfrm>
            <a:off x="5207000" y="4912072"/>
            <a:ext cx="1511300"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A9520C"/>
                </a:solidFill>
                <a:latin typeface="IBM Plex Sans" pitchFamily="34" charset="0"/>
                <a:ea typeface="IBM Plex Sans" pitchFamily="34" charset="-122"/>
                <a:cs typeface="IBM Plex Sans" pitchFamily="34" charset="-120"/>
              </a:rPr>
              <a:t>Tariffs &amp; meters</a:t>
            </a:r>
            <a:endParaRPr lang="en-US" sz="1200" dirty="0"/>
          </a:p>
        </p:txBody>
      </p:sp>
      <p:sp>
        <p:nvSpPr>
          <p:cNvPr id="19" name="Text 16"/>
          <p:cNvSpPr/>
          <p:nvPr/>
        </p:nvSpPr>
        <p:spPr>
          <a:xfrm>
            <a:off x="6794500" y="4912072"/>
            <a:ext cx="472224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4202B"/>
                </a:solidFill>
                <a:latin typeface="JetBrains Mono" pitchFamily="49" charset="0"/>
                <a:ea typeface="JetBrains Mono" pitchFamily="49" charset="-122"/>
                <a:cs typeface="JetBrains Mono" pitchFamily="49" charset="-120"/>
              </a:rPr>
              <a:t>n_tarif_types · n_counters · n_invoices</a:t>
            </a:r>
            <a:endParaRPr lang="en-US" sz="1200" dirty="0"/>
          </a:p>
        </p:txBody>
      </p:sp>
      <p:sp>
        <p:nvSpPr>
          <p:cNvPr id="20" name="Text 17"/>
          <p:cNvSpPr/>
          <p:nvPr/>
        </p:nvSpPr>
        <p:spPr>
          <a:xfrm>
            <a:off x="5207000" y="5216872"/>
            <a:ext cx="1511300"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A9520C"/>
                </a:solidFill>
                <a:latin typeface="IBM Plex Sans" pitchFamily="34" charset="0"/>
                <a:ea typeface="IBM Plex Sans" pitchFamily="34" charset="-122"/>
                <a:cs typeface="IBM Plex Sans" pitchFamily="34" charset="-120"/>
              </a:rPr>
              <a:t>Consumption</a:t>
            </a:r>
            <a:endParaRPr lang="en-US" sz="1200" dirty="0"/>
          </a:p>
        </p:txBody>
      </p:sp>
      <p:sp>
        <p:nvSpPr>
          <p:cNvPr id="21" name="Text 18"/>
          <p:cNvSpPr/>
          <p:nvPr/>
        </p:nvSpPr>
        <p:spPr>
          <a:xfrm>
            <a:off x="6794500" y="5216872"/>
            <a:ext cx="472224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4202B"/>
                </a:solidFill>
                <a:latin typeface="JetBrains Mono" pitchFamily="49" charset="0"/>
                <a:ea typeface="JetBrains Mono" pitchFamily="49" charset="-122"/>
                <a:cs typeface="JetBrains Mono" pitchFamily="49" charset="-120"/>
              </a:rPr>
              <a:t>cons_mean · cons_std · cons_min · cons_zero_share · cons_change</a:t>
            </a:r>
            <a:endParaRPr lang="en-US" sz="1200" dirty="0"/>
          </a:p>
        </p:txBody>
      </p:sp>
      <p:sp>
        <p:nvSpPr>
          <p:cNvPr id="22" name="Text 19"/>
          <p:cNvSpPr/>
          <p:nvPr/>
        </p:nvSpPr>
        <p:spPr>
          <a:xfrm>
            <a:off x="812800" y="6238280"/>
            <a:ext cx="4114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The drops apply to every model, baseline included</a:t>
            </a:r>
            <a:endParaRPr lang="en-US" sz="1200" dirty="0"/>
          </a:p>
        </p:txBody>
      </p:sp>
      <p:sp>
        <p:nvSpPr>
          <p:cNvPr id="23" name="Text 2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05 · RESULTS</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Features lifted test AUC by 0.076</a:t>
            </a:r>
            <a:endParaRPr lang="en-US" sz="3200" dirty="0"/>
          </a:p>
        </p:txBody>
      </p:sp>
      <p:sp>
        <p:nvSpPr>
          <p:cNvPr id="4" name="Shape 2"/>
          <p:cNvSpPr/>
          <p:nvPr/>
        </p:nvSpPr>
        <p:spPr>
          <a:xfrm>
            <a:off x="812800" y="1859211"/>
            <a:ext cx="203200" cy="203200"/>
          </a:xfrm>
          <a:prstGeom prst="roundRect">
            <a:avLst>
              <a:gd name="adj" fmla="val 18750"/>
            </a:avLst>
          </a:prstGeom>
          <a:solidFill>
            <a:srgbClr val="A9BCD0"/>
          </a:solidFill>
          <a:ln/>
        </p:spPr>
      </p:sp>
      <p:sp>
        <p:nvSpPr>
          <p:cNvPr id="5" name="Text 3"/>
          <p:cNvSpPr/>
          <p:nvPr/>
        </p:nvSpPr>
        <p:spPr>
          <a:xfrm>
            <a:off x="1092200" y="1854150"/>
            <a:ext cx="805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Train AUC</a:t>
            </a:r>
            <a:endParaRPr lang="en-US" sz="1200" dirty="0"/>
          </a:p>
        </p:txBody>
      </p:sp>
      <p:sp>
        <p:nvSpPr>
          <p:cNvPr id="6" name="Shape 4"/>
          <p:cNvSpPr/>
          <p:nvPr/>
        </p:nvSpPr>
        <p:spPr>
          <a:xfrm>
            <a:off x="2017564" y="1859211"/>
            <a:ext cx="203200" cy="203200"/>
          </a:xfrm>
          <a:prstGeom prst="roundRect">
            <a:avLst>
              <a:gd name="adj" fmla="val 18750"/>
            </a:avLst>
          </a:prstGeom>
          <a:solidFill>
            <a:srgbClr val="2F6DB5"/>
          </a:solidFill>
          <a:ln/>
        </p:spPr>
      </p:sp>
      <p:sp>
        <p:nvSpPr>
          <p:cNvPr id="7" name="Text 5"/>
          <p:cNvSpPr/>
          <p:nvPr/>
        </p:nvSpPr>
        <p:spPr>
          <a:xfrm>
            <a:off x="2296964" y="1854150"/>
            <a:ext cx="740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Test AUC</a:t>
            </a:r>
            <a:endParaRPr lang="en-US" sz="1200" dirty="0"/>
          </a:p>
        </p:txBody>
      </p:sp>
      <p:sp>
        <p:nvSpPr>
          <p:cNvPr id="8" name="Text 6"/>
          <p:cNvSpPr/>
          <p:nvPr/>
        </p:nvSpPr>
        <p:spPr>
          <a:xfrm>
            <a:off x="3168204" y="1854150"/>
            <a:ext cx="21885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Axis starts at 0.5 (coin flip)</a:t>
            </a:r>
            <a:endParaRPr lang="en-US" sz="1200" dirty="0"/>
          </a:p>
        </p:txBody>
      </p:sp>
      <p:sp>
        <p:nvSpPr>
          <p:cNvPr id="9" name="Shape 7"/>
          <p:cNvSpPr/>
          <p:nvPr/>
        </p:nvSpPr>
        <p:spPr>
          <a:xfrm>
            <a:off x="812800" y="4702721"/>
            <a:ext cx="6731000" cy="0"/>
          </a:xfrm>
          <a:prstGeom prst="line">
            <a:avLst/>
          </a:prstGeom>
          <a:noFill/>
          <a:ln w="12700">
            <a:solidFill>
              <a:srgbClr val="14202B"/>
            </a:solidFill>
            <a:prstDash val="solid"/>
          </a:ln>
        </p:spPr>
      </p:sp>
      <p:sp>
        <p:nvSpPr>
          <p:cNvPr id="10" name="Text 8"/>
          <p:cNvSpPr/>
          <p:nvPr/>
        </p:nvSpPr>
        <p:spPr>
          <a:xfrm>
            <a:off x="958954" y="2559000"/>
            <a:ext cx="4886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0.872</a:t>
            </a:r>
            <a:endParaRPr lang="en-US" sz="1200" dirty="0"/>
          </a:p>
        </p:txBody>
      </p:sp>
      <p:sp>
        <p:nvSpPr>
          <p:cNvPr id="11" name="Shape 9"/>
          <p:cNvSpPr/>
          <p:nvPr/>
        </p:nvSpPr>
        <p:spPr>
          <a:xfrm>
            <a:off x="885825" y="2810421"/>
            <a:ext cx="635000" cy="1885950"/>
          </a:xfrm>
          <a:custGeom>
            <a:avLst/>
            <a:gdLst/>
            <a:ahLst/>
            <a:cxnLst/>
            <a:rect l="l" t="t" r="r" b="b"/>
            <a:pathLst>
              <a:path w="635000" h="1885950">
                <a:moveTo>
                  <a:pt x="50800" y="0"/>
                </a:moveTo>
                <a:lnTo>
                  <a:pt x="584200" y="0"/>
                </a:lnTo>
                <a:arcTo hR="50800" wR="50800" stAng="16200000" swAng="5400000"/>
                <a:lnTo>
                  <a:pt x="635000" y="1885950"/>
                </a:lnTo>
                <a:lnTo>
                  <a:pt x="0" y="1885950"/>
                </a:lnTo>
                <a:lnTo>
                  <a:pt x="0" y="50800"/>
                </a:lnTo>
                <a:arcTo hR="50800" wR="50800" stAng="10800000" swAng="5400000"/>
                <a:close/>
              </a:path>
            </a:pathLst>
          </a:custGeom>
          <a:solidFill>
            <a:srgbClr val="A9BCD0"/>
          </a:solidFill>
          <a:ln/>
        </p:spPr>
      </p:sp>
      <p:sp>
        <p:nvSpPr>
          <p:cNvPr id="12" name="Text 10"/>
          <p:cNvSpPr/>
          <p:nvPr/>
        </p:nvSpPr>
        <p:spPr>
          <a:xfrm>
            <a:off x="1667713" y="2940000"/>
            <a:ext cx="49357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0.796</a:t>
            </a:r>
            <a:endParaRPr lang="en-US" sz="1200" dirty="0"/>
          </a:p>
        </p:txBody>
      </p:sp>
      <p:sp>
        <p:nvSpPr>
          <p:cNvPr id="13" name="Shape 11"/>
          <p:cNvSpPr/>
          <p:nvPr/>
        </p:nvSpPr>
        <p:spPr>
          <a:xfrm>
            <a:off x="1597025" y="3191421"/>
            <a:ext cx="635000" cy="1504950"/>
          </a:xfrm>
          <a:custGeom>
            <a:avLst/>
            <a:gdLst/>
            <a:ahLst/>
            <a:cxnLst/>
            <a:rect l="l" t="t" r="r" b="b"/>
            <a:pathLst>
              <a:path w="635000" h="1504950">
                <a:moveTo>
                  <a:pt x="50800" y="0"/>
                </a:moveTo>
                <a:lnTo>
                  <a:pt x="584200" y="0"/>
                </a:lnTo>
                <a:arcTo hR="50800" wR="50800" stAng="16200000" swAng="5400000"/>
                <a:lnTo>
                  <a:pt x="635000" y="1504950"/>
                </a:lnTo>
                <a:lnTo>
                  <a:pt x="0" y="1504950"/>
                </a:lnTo>
                <a:lnTo>
                  <a:pt x="0" y="50800"/>
                </a:lnTo>
                <a:arcTo hR="50800" wR="50800" stAng="10800000" swAng="5400000"/>
                <a:close/>
              </a:path>
            </a:pathLst>
          </a:custGeom>
          <a:solidFill>
            <a:srgbClr val="2F6DB5"/>
          </a:solidFill>
          <a:ln/>
        </p:spPr>
      </p:sp>
      <p:sp>
        <p:nvSpPr>
          <p:cNvPr id="14" name="Text 12"/>
          <p:cNvSpPr/>
          <p:nvPr/>
        </p:nvSpPr>
        <p:spPr>
          <a:xfrm>
            <a:off x="2705204" y="2559000"/>
            <a:ext cx="4886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0.871</a:t>
            </a:r>
            <a:endParaRPr lang="en-US" sz="1200" dirty="0"/>
          </a:p>
        </p:txBody>
      </p:sp>
      <p:sp>
        <p:nvSpPr>
          <p:cNvPr id="15" name="Shape 13"/>
          <p:cNvSpPr/>
          <p:nvPr/>
        </p:nvSpPr>
        <p:spPr>
          <a:xfrm>
            <a:off x="2632075" y="2810421"/>
            <a:ext cx="635000" cy="1885950"/>
          </a:xfrm>
          <a:custGeom>
            <a:avLst/>
            <a:gdLst/>
            <a:ahLst/>
            <a:cxnLst/>
            <a:rect l="l" t="t" r="r" b="b"/>
            <a:pathLst>
              <a:path w="635000" h="1885950">
                <a:moveTo>
                  <a:pt x="50800" y="0"/>
                </a:moveTo>
                <a:lnTo>
                  <a:pt x="584200" y="0"/>
                </a:lnTo>
                <a:arcTo hR="50800" wR="50800" stAng="16200000" swAng="5400000"/>
                <a:lnTo>
                  <a:pt x="635000" y="1885950"/>
                </a:lnTo>
                <a:lnTo>
                  <a:pt x="0" y="1885950"/>
                </a:lnTo>
                <a:lnTo>
                  <a:pt x="0" y="50800"/>
                </a:lnTo>
                <a:arcTo hR="50800" wR="50800" stAng="10800000" swAng="5400000"/>
                <a:close/>
              </a:path>
            </a:pathLst>
          </a:custGeom>
          <a:solidFill>
            <a:srgbClr val="A9BCD0"/>
          </a:solidFill>
          <a:ln/>
        </p:spPr>
      </p:sp>
      <p:sp>
        <p:nvSpPr>
          <p:cNvPr id="16" name="Text 14"/>
          <p:cNvSpPr/>
          <p:nvPr/>
        </p:nvSpPr>
        <p:spPr>
          <a:xfrm>
            <a:off x="3413963" y="2940000"/>
            <a:ext cx="49357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0.797</a:t>
            </a:r>
            <a:endParaRPr lang="en-US" sz="1200" dirty="0"/>
          </a:p>
        </p:txBody>
      </p:sp>
      <p:sp>
        <p:nvSpPr>
          <p:cNvPr id="17" name="Shape 15"/>
          <p:cNvSpPr/>
          <p:nvPr/>
        </p:nvSpPr>
        <p:spPr>
          <a:xfrm>
            <a:off x="3343275" y="3191421"/>
            <a:ext cx="635000" cy="1504950"/>
          </a:xfrm>
          <a:custGeom>
            <a:avLst/>
            <a:gdLst/>
            <a:ahLst/>
            <a:cxnLst/>
            <a:rect l="l" t="t" r="r" b="b"/>
            <a:pathLst>
              <a:path w="635000" h="1504950">
                <a:moveTo>
                  <a:pt x="50800" y="0"/>
                </a:moveTo>
                <a:lnTo>
                  <a:pt x="584200" y="0"/>
                </a:lnTo>
                <a:arcTo hR="50800" wR="50800" stAng="16200000" swAng="5400000"/>
                <a:lnTo>
                  <a:pt x="635000" y="1504950"/>
                </a:lnTo>
                <a:lnTo>
                  <a:pt x="0" y="1504950"/>
                </a:lnTo>
                <a:lnTo>
                  <a:pt x="0" y="50800"/>
                </a:lnTo>
                <a:arcTo hR="50800" wR="50800" stAng="10800000" swAng="5400000"/>
                <a:close/>
              </a:path>
            </a:pathLst>
          </a:custGeom>
          <a:solidFill>
            <a:srgbClr val="2F6DB5"/>
          </a:solidFill>
          <a:ln/>
        </p:spPr>
      </p:sp>
      <p:sp>
        <p:nvSpPr>
          <p:cNvPr id="18" name="Text 16"/>
          <p:cNvSpPr/>
          <p:nvPr/>
        </p:nvSpPr>
        <p:spPr>
          <a:xfrm>
            <a:off x="4451454" y="2330400"/>
            <a:ext cx="4886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0.916</a:t>
            </a:r>
            <a:endParaRPr lang="en-US" sz="1200" dirty="0"/>
          </a:p>
        </p:txBody>
      </p:sp>
      <p:sp>
        <p:nvSpPr>
          <p:cNvPr id="19" name="Shape 17"/>
          <p:cNvSpPr/>
          <p:nvPr/>
        </p:nvSpPr>
        <p:spPr>
          <a:xfrm>
            <a:off x="4378325" y="2581821"/>
            <a:ext cx="635000" cy="2114550"/>
          </a:xfrm>
          <a:custGeom>
            <a:avLst/>
            <a:gdLst/>
            <a:ahLst/>
            <a:cxnLst/>
            <a:rect l="l" t="t" r="r" b="b"/>
            <a:pathLst>
              <a:path w="635000" h="2114550">
                <a:moveTo>
                  <a:pt x="50800" y="0"/>
                </a:moveTo>
                <a:lnTo>
                  <a:pt x="584200" y="0"/>
                </a:lnTo>
                <a:arcTo hR="50800" wR="50800" stAng="16200000" swAng="5400000"/>
                <a:lnTo>
                  <a:pt x="635000" y="2114550"/>
                </a:lnTo>
                <a:lnTo>
                  <a:pt x="0" y="2114550"/>
                </a:lnTo>
                <a:lnTo>
                  <a:pt x="0" y="50800"/>
                </a:lnTo>
                <a:arcTo hR="50800" wR="50800" stAng="10800000" swAng="5400000"/>
                <a:close/>
              </a:path>
            </a:pathLst>
          </a:custGeom>
          <a:solidFill>
            <a:srgbClr val="A9BCD0"/>
          </a:solidFill>
          <a:ln/>
        </p:spPr>
      </p:sp>
      <p:sp>
        <p:nvSpPr>
          <p:cNvPr id="20" name="Text 18"/>
          <p:cNvSpPr/>
          <p:nvPr/>
        </p:nvSpPr>
        <p:spPr>
          <a:xfrm>
            <a:off x="5160213" y="2552650"/>
            <a:ext cx="49357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0.873</a:t>
            </a:r>
            <a:endParaRPr lang="en-US" sz="1200" dirty="0"/>
          </a:p>
        </p:txBody>
      </p:sp>
      <p:sp>
        <p:nvSpPr>
          <p:cNvPr id="21" name="Shape 19"/>
          <p:cNvSpPr/>
          <p:nvPr/>
        </p:nvSpPr>
        <p:spPr>
          <a:xfrm>
            <a:off x="5089525" y="2804071"/>
            <a:ext cx="635000" cy="1892300"/>
          </a:xfrm>
          <a:custGeom>
            <a:avLst/>
            <a:gdLst/>
            <a:ahLst/>
            <a:cxnLst/>
            <a:rect l="l" t="t" r="r" b="b"/>
            <a:pathLst>
              <a:path w="635000" h="1892300">
                <a:moveTo>
                  <a:pt x="50800" y="0"/>
                </a:moveTo>
                <a:lnTo>
                  <a:pt x="584200" y="0"/>
                </a:lnTo>
                <a:arcTo hR="50800" wR="50800" stAng="16200000" swAng="5400000"/>
                <a:lnTo>
                  <a:pt x="635000" y="1892300"/>
                </a:lnTo>
                <a:lnTo>
                  <a:pt x="0" y="1892300"/>
                </a:lnTo>
                <a:lnTo>
                  <a:pt x="0" y="50800"/>
                </a:lnTo>
                <a:arcTo hR="50800" wR="50800" stAng="10800000" swAng="5400000"/>
                <a:close/>
              </a:path>
            </a:pathLst>
          </a:custGeom>
          <a:solidFill>
            <a:srgbClr val="2F6DB5"/>
          </a:solidFill>
          <a:ln/>
        </p:spPr>
      </p:sp>
      <p:sp>
        <p:nvSpPr>
          <p:cNvPr id="22" name="Text 20"/>
          <p:cNvSpPr/>
          <p:nvPr/>
        </p:nvSpPr>
        <p:spPr>
          <a:xfrm>
            <a:off x="6197704" y="2324050"/>
            <a:ext cx="4886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0.917</a:t>
            </a:r>
            <a:endParaRPr lang="en-US" sz="1200" dirty="0"/>
          </a:p>
        </p:txBody>
      </p:sp>
      <p:sp>
        <p:nvSpPr>
          <p:cNvPr id="23" name="Shape 21"/>
          <p:cNvSpPr/>
          <p:nvPr/>
        </p:nvSpPr>
        <p:spPr>
          <a:xfrm>
            <a:off x="6124575" y="2575471"/>
            <a:ext cx="635000" cy="2120900"/>
          </a:xfrm>
          <a:custGeom>
            <a:avLst/>
            <a:gdLst/>
            <a:ahLst/>
            <a:cxnLst/>
            <a:rect l="l" t="t" r="r" b="b"/>
            <a:pathLst>
              <a:path w="635000" h="2120900">
                <a:moveTo>
                  <a:pt x="50800" y="0"/>
                </a:moveTo>
                <a:lnTo>
                  <a:pt x="584200" y="0"/>
                </a:lnTo>
                <a:arcTo hR="50800" wR="50800" stAng="16200000" swAng="5400000"/>
                <a:lnTo>
                  <a:pt x="635000" y="2120900"/>
                </a:lnTo>
                <a:lnTo>
                  <a:pt x="0" y="2120900"/>
                </a:lnTo>
                <a:lnTo>
                  <a:pt x="0" y="50800"/>
                </a:lnTo>
                <a:arcTo hR="50800" wR="50800" stAng="10800000" swAng="5400000"/>
                <a:close/>
              </a:path>
            </a:pathLst>
          </a:custGeom>
          <a:solidFill>
            <a:srgbClr val="A9BCD0"/>
          </a:solidFill>
          <a:ln/>
        </p:spPr>
      </p:sp>
      <p:sp>
        <p:nvSpPr>
          <p:cNvPr id="24" name="Text 22"/>
          <p:cNvSpPr/>
          <p:nvPr/>
        </p:nvSpPr>
        <p:spPr>
          <a:xfrm>
            <a:off x="6906463" y="2559000"/>
            <a:ext cx="49357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0.872</a:t>
            </a:r>
            <a:endParaRPr lang="en-US" sz="1200" dirty="0"/>
          </a:p>
        </p:txBody>
      </p:sp>
      <p:sp>
        <p:nvSpPr>
          <p:cNvPr id="25" name="Shape 23"/>
          <p:cNvSpPr/>
          <p:nvPr/>
        </p:nvSpPr>
        <p:spPr>
          <a:xfrm>
            <a:off x="6835775" y="2810421"/>
            <a:ext cx="635000" cy="1885950"/>
          </a:xfrm>
          <a:custGeom>
            <a:avLst/>
            <a:gdLst/>
            <a:ahLst/>
            <a:cxnLst/>
            <a:rect l="l" t="t" r="r" b="b"/>
            <a:pathLst>
              <a:path w="635000" h="1885950">
                <a:moveTo>
                  <a:pt x="50800" y="0"/>
                </a:moveTo>
                <a:lnTo>
                  <a:pt x="584200" y="0"/>
                </a:lnTo>
                <a:arcTo hR="50800" wR="50800" stAng="16200000" swAng="5400000"/>
                <a:lnTo>
                  <a:pt x="635000" y="1885950"/>
                </a:lnTo>
                <a:lnTo>
                  <a:pt x="0" y="1885950"/>
                </a:lnTo>
                <a:lnTo>
                  <a:pt x="0" y="50800"/>
                </a:lnTo>
                <a:arcTo hR="50800" wR="50800" stAng="10800000" swAng="5400000"/>
                <a:close/>
              </a:path>
            </a:pathLst>
          </a:custGeom>
          <a:solidFill>
            <a:srgbClr val="2F6DB5"/>
          </a:solidFill>
          <a:ln/>
        </p:spPr>
      </p:sp>
      <p:sp>
        <p:nvSpPr>
          <p:cNvPr id="26" name="Text 24"/>
          <p:cNvSpPr/>
          <p:nvPr/>
        </p:nvSpPr>
        <p:spPr>
          <a:xfrm>
            <a:off x="787400" y="4810671"/>
            <a:ext cx="1543050" cy="23113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14202B"/>
                </a:solidFill>
                <a:latin typeface="IBM Plex Sans" pitchFamily="34" charset="0"/>
                <a:ea typeface="IBM Plex Sans" pitchFamily="34" charset="-122"/>
                <a:cs typeface="IBM Plex Sans" pitchFamily="34" charset="-120"/>
              </a:rPr>
              <a:t>1</a:t>
            </a:r>
            <a:r>
              <a:rPr lang="en-US" sz="1200" dirty="0">
                <a:solidFill>
                  <a:srgbClr val="14202B"/>
                </a:solidFill>
                <a:latin typeface="IBM Plex Sans" pitchFamily="34" charset="0"/>
                <a:ea typeface="IBM Plex Sans" pitchFamily="34" charset="-122"/>
                <a:cs typeface="IBM Plex Sans" pitchFamily="34" charset="-120"/>
              </a:rPr>
              <a:t> Baseline</a:t>
            </a:r>
            <a:endParaRPr lang="en-US" sz="1200" dirty="0"/>
          </a:p>
        </p:txBody>
      </p:sp>
      <p:sp>
        <p:nvSpPr>
          <p:cNvPr id="27" name="Text 25"/>
          <p:cNvSpPr/>
          <p:nvPr/>
        </p:nvSpPr>
        <p:spPr>
          <a:xfrm>
            <a:off x="2533650" y="4810671"/>
            <a:ext cx="1543050" cy="23113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14202B"/>
                </a:solidFill>
                <a:latin typeface="IBM Plex Sans" pitchFamily="34" charset="0"/>
                <a:ea typeface="IBM Plex Sans" pitchFamily="34" charset="-122"/>
                <a:cs typeface="IBM Plex Sans" pitchFamily="34" charset="-120"/>
              </a:rPr>
              <a:t>2</a:t>
            </a:r>
            <a:r>
              <a:rPr lang="en-US" sz="1200" dirty="0">
                <a:solidFill>
                  <a:srgbClr val="14202B"/>
                </a:solidFill>
                <a:latin typeface="IBM Plex Sans" pitchFamily="34" charset="0"/>
                <a:ea typeface="IBM Plex Sans" pitchFamily="34" charset="-122"/>
                <a:cs typeface="IBM Plex Sans" pitchFamily="34" charset="-120"/>
              </a:rPr>
              <a:t> Baseline + tuning</a:t>
            </a:r>
            <a:endParaRPr lang="en-US" sz="1200" dirty="0"/>
          </a:p>
        </p:txBody>
      </p:sp>
      <p:sp>
        <p:nvSpPr>
          <p:cNvPr id="28" name="Text 26"/>
          <p:cNvSpPr/>
          <p:nvPr/>
        </p:nvSpPr>
        <p:spPr>
          <a:xfrm>
            <a:off x="4279900" y="4810671"/>
            <a:ext cx="1543050" cy="23113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14202B"/>
                </a:solidFill>
                <a:latin typeface="IBM Plex Sans" pitchFamily="34" charset="0"/>
                <a:ea typeface="IBM Plex Sans" pitchFamily="34" charset="-122"/>
                <a:cs typeface="IBM Plex Sans" pitchFamily="34" charset="-120"/>
              </a:rPr>
              <a:t>3</a:t>
            </a:r>
            <a:r>
              <a:rPr lang="en-US" sz="1200" dirty="0">
                <a:solidFill>
                  <a:srgbClr val="14202B"/>
                </a:solidFill>
                <a:latin typeface="IBM Plex Sans" pitchFamily="34" charset="0"/>
                <a:ea typeface="IBM Plex Sans" pitchFamily="34" charset="-122"/>
                <a:cs typeface="IBM Plex Sans" pitchFamily="34" charset="-120"/>
              </a:rPr>
              <a:t> Features</a:t>
            </a:r>
            <a:endParaRPr lang="en-US" sz="1200" dirty="0"/>
          </a:p>
        </p:txBody>
      </p:sp>
      <p:sp>
        <p:nvSpPr>
          <p:cNvPr id="29" name="Text 27"/>
          <p:cNvSpPr/>
          <p:nvPr/>
        </p:nvSpPr>
        <p:spPr>
          <a:xfrm>
            <a:off x="6026150" y="4810671"/>
            <a:ext cx="1543050" cy="23113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14202B"/>
                </a:solidFill>
                <a:latin typeface="IBM Plex Sans" pitchFamily="34" charset="0"/>
                <a:ea typeface="IBM Plex Sans" pitchFamily="34" charset="-122"/>
                <a:cs typeface="IBM Plex Sans" pitchFamily="34" charset="-120"/>
              </a:rPr>
              <a:t>4</a:t>
            </a:r>
            <a:r>
              <a:rPr lang="en-US" sz="1200" dirty="0">
                <a:solidFill>
                  <a:srgbClr val="14202B"/>
                </a:solidFill>
                <a:latin typeface="IBM Plex Sans" pitchFamily="34" charset="0"/>
                <a:ea typeface="IBM Plex Sans" pitchFamily="34" charset="-122"/>
                <a:cs typeface="IBM Plex Sans" pitchFamily="34" charset="-120"/>
              </a:rPr>
              <a:t> Features + tuning</a:t>
            </a:r>
            <a:endParaRPr lang="en-US" sz="1200" dirty="0"/>
          </a:p>
        </p:txBody>
      </p:sp>
      <p:sp>
        <p:nvSpPr>
          <p:cNvPr id="30" name="Text 28"/>
          <p:cNvSpPr/>
          <p:nvPr/>
        </p:nvSpPr>
        <p:spPr>
          <a:xfrm>
            <a:off x="7950200" y="1854150"/>
            <a:ext cx="353187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A9520C"/>
                </a:solidFill>
                <a:latin typeface="Space Grotesk" pitchFamily="34" charset="0"/>
                <a:ea typeface="Space Grotesk" pitchFamily="34" charset="-122"/>
                <a:cs typeface="Space Grotesk" pitchFamily="34" charset="-120"/>
              </a:rPr>
              <a:t>+0.076</a:t>
            </a:r>
            <a:endParaRPr lang="en-US" sz="6000" dirty="0"/>
          </a:p>
        </p:txBody>
      </p:sp>
      <p:sp>
        <p:nvSpPr>
          <p:cNvPr id="31" name="Text 29"/>
          <p:cNvSpPr/>
          <p:nvPr/>
        </p:nvSpPr>
        <p:spPr>
          <a:xfrm>
            <a:off x="7950200" y="2793950"/>
            <a:ext cx="353187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02B"/>
                </a:solidFill>
                <a:latin typeface="IBM Plex Sans" pitchFamily="34" charset="0"/>
                <a:ea typeface="IBM Plex Sans" pitchFamily="34" charset="-122"/>
                <a:cs typeface="IBM Plex Sans" pitchFamily="34" charset="-120"/>
              </a:rPr>
              <a:t>test AUC from the new features (0.796 → 0.872)</a:t>
            </a:r>
            <a:endParaRPr lang="en-US" sz="1400" dirty="0"/>
          </a:p>
        </p:txBody>
      </p:sp>
      <p:pic>
        <p:nvPicPr>
          <p:cNvPr id="32" name="Image 0" descr="line">    </p:cNvPr>
          <p:cNvPicPr>
            <a:picLocks noChangeAspect="1"/>
          </p:cNvPicPr>
          <p:nvPr/>
        </p:nvPicPr>
        <p:blipFill>
          <a:blip r:embed="rId1"/>
          <a:srcRect l="0" r="0" t="0" b="0"/>
          <a:stretch/>
        </p:blipFill>
        <p:spPr>
          <a:xfrm>
            <a:off x="7950200" y="3411091"/>
            <a:ext cx="3429000" cy="12700"/>
          </a:xfrm>
          <a:prstGeom prst="rect">
            <a:avLst/>
          </a:prstGeom>
        </p:spPr>
      </p:pic>
      <p:sp>
        <p:nvSpPr>
          <p:cNvPr id="33" name="Text 30"/>
          <p:cNvSpPr/>
          <p:nvPr/>
        </p:nvSpPr>
        <p:spPr>
          <a:xfrm>
            <a:off x="7950200" y="3525391"/>
            <a:ext cx="631428"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5E6873"/>
                </a:solidFill>
                <a:latin typeface="Space Grotesk" pitchFamily="34" charset="0"/>
                <a:ea typeface="Space Grotesk" pitchFamily="34" charset="-122"/>
                <a:cs typeface="Space Grotesk" pitchFamily="34" charset="-120"/>
              </a:rPr>
              <a:t>≈ 0</a:t>
            </a:r>
            <a:endParaRPr lang="en-US" sz="3200" dirty="0"/>
          </a:p>
        </p:txBody>
      </p:sp>
      <p:sp>
        <p:nvSpPr>
          <p:cNvPr id="34" name="Text 31"/>
          <p:cNvSpPr/>
          <p:nvPr/>
        </p:nvSpPr>
        <p:spPr>
          <a:xfrm>
            <a:off x="8657828" y="3725416"/>
            <a:ext cx="280301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from tuning, with or without the features</a:t>
            </a:r>
            <a:endParaRPr lang="en-US" sz="1200" dirty="0"/>
          </a:p>
        </p:txBody>
      </p:sp>
      <p:pic>
        <p:nvPicPr>
          <p:cNvPr id="35" name="Image 1" descr="line">    </p:cNvPr>
          <p:cNvPicPr>
            <a:picLocks noChangeAspect="1"/>
          </p:cNvPicPr>
          <p:nvPr/>
        </p:nvPicPr>
        <p:blipFill>
          <a:blip r:embed="rId2"/>
          <a:srcRect l="0" r="0" t="0" b="0"/>
          <a:stretch/>
        </p:blipFill>
        <p:spPr>
          <a:xfrm>
            <a:off x="7950200" y="4521051"/>
            <a:ext cx="3429000" cy="12700"/>
          </a:xfrm>
          <a:prstGeom prst="rect">
            <a:avLst/>
          </a:prstGeom>
        </p:spPr>
      </p:pic>
      <p:sp>
        <p:nvSpPr>
          <p:cNvPr id="36" name="Text 32"/>
          <p:cNvSpPr/>
          <p:nvPr/>
        </p:nvSpPr>
        <p:spPr>
          <a:xfrm>
            <a:off x="7950200" y="4635351"/>
            <a:ext cx="353187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0"/>
                </a:solidFill>
                <a:latin typeface="IBM Plex Sans" pitchFamily="34" charset="0"/>
                <a:ea typeface="IBM Plex Sans" pitchFamily="34" charset="-122"/>
                <a:cs typeface="IBM Plex Sans" pitchFamily="34" charset="-120"/>
              </a:rPr>
              <a:t>The train–test gap shrank from 0.075 to 0.046, so the new features also generalise better.</a:t>
            </a:r>
            <a:endParaRPr lang="en-US" sz="1400" dirty="0"/>
          </a:p>
        </p:txBody>
      </p:sp>
      <p:sp>
        <p:nvSpPr>
          <p:cNvPr id="37" name="Text 33"/>
          <p:cNvSpPr/>
          <p:nvPr/>
        </p:nvSpPr>
        <p:spPr>
          <a:xfrm>
            <a:off x="812800" y="6238280"/>
            <a:ext cx="42686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Same hold-out set of 33,874 clients for every model</a:t>
            </a:r>
            <a:endParaRPr lang="en-US" sz="1200" dirty="0"/>
          </a:p>
        </p:txBody>
      </p:sp>
      <p:sp>
        <p:nvSpPr>
          <p:cNvPr id="38" name="Text 3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06 · FROM SCORES TO INSPECTIONS</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Catching 72% of fraud has a price</a:t>
            </a:r>
            <a:endParaRPr lang="en-US" sz="3200" dirty="0"/>
          </a:p>
        </p:txBody>
      </p:sp>
      <p:sp>
        <p:nvSpPr>
          <p:cNvPr id="4" name="Text 2"/>
          <p:cNvSpPr/>
          <p:nvPr/>
        </p:nvSpPr>
        <p:spPr>
          <a:xfrm>
            <a:off x="812800" y="1854150"/>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Test set, chosen setup (weighting + cut-off 0.547)</a:t>
            </a:r>
            <a:endParaRPr lang="en-US" sz="1200" dirty="0"/>
          </a:p>
        </p:txBody>
      </p:sp>
      <p:sp>
        <p:nvSpPr>
          <p:cNvPr id="5" name="Text 3"/>
          <p:cNvSpPr/>
          <p:nvPr/>
        </p:nvSpPr>
        <p:spPr>
          <a:xfrm>
            <a:off x="1816100" y="2169071"/>
            <a:ext cx="153035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Flagged</a:t>
            </a:r>
            <a:endParaRPr lang="en-US" sz="1200" dirty="0"/>
          </a:p>
        </p:txBody>
      </p:sp>
      <p:sp>
        <p:nvSpPr>
          <p:cNvPr id="6" name="Text 4"/>
          <p:cNvSpPr/>
          <p:nvPr/>
        </p:nvSpPr>
        <p:spPr>
          <a:xfrm>
            <a:off x="3371850" y="2169071"/>
            <a:ext cx="153035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Not flagged</a:t>
            </a:r>
            <a:endParaRPr lang="en-US" sz="1200" dirty="0"/>
          </a:p>
        </p:txBody>
      </p:sp>
      <p:sp>
        <p:nvSpPr>
          <p:cNvPr id="7" name="Text 5"/>
          <p:cNvSpPr/>
          <p:nvPr/>
        </p:nvSpPr>
        <p:spPr>
          <a:xfrm>
            <a:off x="812800" y="2783681"/>
            <a:ext cx="1003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Fraud</a:t>
            </a:r>
            <a:endParaRPr lang="en-US" sz="1400" dirty="0"/>
          </a:p>
        </p:txBody>
      </p:sp>
      <p:sp>
        <p:nvSpPr>
          <p:cNvPr id="8" name="Shape 6"/>
          <p:cNvSpPr/>
          <p:nvPr/>
        </p:nvSpPr>
        <p:spPr>
          <a:xfrm>
            <a:off x="1841500" y="2458591"/>
            <a:ext cx="1479550" cy="899120"/>
          </a:xfrm>
          <a:prstGeom prst="roundRect">
            <a:avLst>
              <a:gd name="adj" fmla="val 11300"/>
            </a:avLst>
          </a:prstGeom>
          <a:solidFill>
            <a:srgbClr val="E8892F"/>
          </a:solidFill>
          <a:ln/>
        </p:spPr>
      </p:sp>
      <p:sp>
        <p:nvSpPr>
          <p:cNvPr id="9" name="Text 7"/>
          <p:cNvSpPr/>
          <p:nvPr/>
        </p:nvSpPr>
        <p:spPr>
          <a:xfrm>
            <a:off x="1993900" y="2610991"/>
            <a:ext cx="12255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02B"/>
                </a:solidFill>
                <a:latin typeface="Space Grotesk" pitchFamily="34" charset="0"/>
                <a:ea typeface="Space Grotesk" pitchFamily="34" charset="-122"/>
                <a:cs typeface="Space Grotesk" pitchFamily="34" charset="-120"/>
              </a:rPr>
              <a:t>1,369</a:t>
            </a:r>
            <a:endParaRPr lang="en-US" sz="2000" dirty="0"/>
          </a:p>
        </p:txBody>
      </p:sp>
      <p:sp>
        <p:nvSpPr>
          <p:cNvPr id="10" name="Text 8"/>
          <p:cNvSpPr/>
          <p:nvPr/>
        </p:nvSpPr>
        <p:spPr>
          <a:xfrm>
            <a:off x="1993900" y="2991991"/>
            <a:ext cx="1225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caught</a:t>
            </a:r>
            <a:endParaRPr lang="en-US" sz="1200" dirty="0"/>
          </a:p>
        </p:txBody>
      </p:sp>
      <p:sp>
        <p:nvSpPr>
          <p:cNvPr id="11" name="Shape 9"/>
          <p:cNvSpPr/>
          <p:nvPr/>
        </p:nvSpPr>
        <p:spPr>
          <a:xfrm>
            <a:off x="3397250" y="2458591"/>
            <a:ext cx="1479550" cy="899120"/>
          </a:xfrm>
          <a:prstGeom prst="roundRect">
            <a:avLst>
              <a:gd name="adj" fmla="val 11300"/>
            </a:avLst>
          </a:prstGeom>
          <a:solidFill>
            <a:srgbClr val="F3DFC8"/>
          </a:solidFill>
          <a:ln/>
        </p:spPr>
      </p:sp>
      <p:sp>
        <p:nvSpPr>
          <p:cNvPr id="12" name="Text 10"/>
          <p:cNvSpPr/>
          <p:nvPr/>
        </p:nvSpPr>
        <p:spPr>
          <a:xfrm>
            <a:off x="3549650" y="2610991"/>
            <a:ext cx="12255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02B"/>
                </a:solidFill>
                <a:latin typeface="Space Grotesk" pitchFamily="34" charset="0"/>
                <a:ea typeface="Space Grotesk" pitchFamily="34" charset="-122"/>
                <a:cs typeface="Space Grotesk" pitchFamily="34" charset="-120"/>
              </a:rPr>
              <a:t>523</a:t>
            </a:r>
            <a:endParaRPr lang="en-US" sz="2000" dirty="0"/>
          </a:p>
        </p:txBody>
      </p:sp>
      <p:sp>
        <p:nvSpPr>
          <p:cNvPr id="13" name="Text 11"/>
          <p:cNvSpPr/>
          <p:nvPr/>
        </p:nvSpPr>
        <p:spPr>
          <a:xfrm>
            <a:off x="3549650" y="2991991"/>
            <a:ext cx="1225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missed</a:t>
            </a:r>
            <a:endParaRPr lang="en-US" sz="1200" dirty="0"/>
          </a:p>
        </p:txBody>
      </p:sp>
      <p:sp>
        <p:nvSpPr>
          <p:cNvPr id="14" name="Text 12"/>
          <p:cNvSpPr/>
          <p:nvPr/>
        </p:nvSpPr>
        <p:spPr>
          <a:xfrm>
            <a:off x="812800" y="3765352"/>
            <a:ext cx="1003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Honest</a:t>
            </a:r>
            <a:endParaRPr lang="en-US" sz="1400" dirty="0"/>
          </a:p>
        </p:txBody>
      </p:sp>
      <p:sp>
        <p:nvSpPr>
          <p:cNvPr id="15" name="Shape 13"/>
          <p:cNvSpPr/>
          <p:nvPr/>
        </p:nvSpPr>
        <p:spPr>
          <a:xfrm>
            <a:off x="1841500" y="3433911"/>
            <a:ext cx="1479550" cy="911820"/>
          </a:xfrm>
          <a:prstGeom prst="roundRect">
            <a:avLst>
              <a:gd name="adj" fmla="val 11143"/>
            </a:avLst>
          </a:prstGeom>
          <a:solidFill>
            <a:srgbClr val="D6E1EE"/>
          </a:solidFill>
          <a:ln/>
        </p:spPr>
      </p:sp>
      <p:sp>
        <p:nvSpPr>
          <p:cNvPr id="16" name="Text 14"/>
          <p:cNvSpPr/>
          <p:nvPr/>
        </p:nvSpPr>
        <p:spPr>
          <a:xfrm>
            <a:off x="1993900" y="3586311"/>
            <a:ext cx="12255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02B"/>
                </a:solidFill>
                <a:latin typeface="Space Grotesk" pitchFamily="34" charset="0"/>
                <a:ea typeface="Space Grotesk" pitchFamily="34" charset="-122"/>
                <a:cs typeface="Space Grotesk" pitchFamily="34" charset="-120"/>
              </a:rPr>
              <a:t>5,080</a:t>
            </a:r>
            <a:endParaRPr lang="en-US" sz="2000" dirty="0"/>
          </a:p>
        </p:txBody>
      </p:sp>
      <p:sp>
        <p:nvSpPr>
          <p:cNvPr id="17" name="Text 15"/>
          <p:cNvSpPr/>
          <p:nvPr/>
        </p:nvSpPr>
        <p:spPr>
          <a:xfrm>
            <a:off x="1993900" y="3967311"/>
            <a:ext cx="1225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wrongly flagged</a:t>
            </a:r>
            <a:endParaRPr lang="en-US" sz="1200" dirty="0"/>
          </a:p>
        </p:txBody>
      </p:sp>
      <p:sp>
        <p:nvSpPr>
          <p:cNvPr id="18" name="Shape 16"/>
          <p:cNvSpPr/>
          <p:nvPr/>
        </p:nvSpPr>
        <p:spPr>
          <a:xfrm>
            <a:off x="3400425" y="3437086"/>
            <a:ext cx="1473200" cy="905470"/>
          </a:xfrm>
          <a:prstGeom prst="roundRect">
            <a:avLst>
              <a:gd name="adj" fmla="val 10870"/>
            </a:avLst>
          </a:prstGeom>
          <a:solidFill>
            <a:srgbClr val="FCFAF5"/>
          </a:solidFill>
          <a:ln w="6350">
            <a:solidFill>
              <a:srgbClr val="E3DED3"/>
            </a:solidFill>
            <a:prstDash val="solid"/>
          </a:ln>
        </p:spPr>
      </p:sp>
      <p:sp>
        <p:nvSpPr>
          <p:cNvPr id="19" name="Text 17"/>
          <p:cNvSpPr/>
          <p:nvPr/>
        </p:nvSpPr>
        <p:spPr>
          <a:xfrm>
            <a:off x="3556000" y="3592661"/>
            <a:ext cx="12128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02B"/>
                </a:solidFill>
                <a:latin typeface="Space Grotesk" pitchFamily="34" charset="0"/>
                <a:ea typeface="Space Grotesk" pitchFamily="34" charset="-122"/>
                <a:cs typeface="Space Grotesk" pitchFamily="34" charset="-120"/>
              </a:rPr>
              <a:t>26,902</a:t>
            </a:r>
            <a:endParaRPr lang="en-US" sz="2000" dirty="0"/>
          </a:p>
        </p:txBody>
      </p:sp>
      <p:sp>
        <p:nvSpPr>
          <p:cNvPr id="20" name="Text 18"/>
          <p:cNvSpPr/>
          <p:nvPr/>
        </p:nvSpPr>
        <p:spPr>
          <a:xfrm>
            <a:off x="3556000" y="3973661"/>
            <a:ext cx="1314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correctly cleared</a:t>
            </a:r>
            <a:endParaRPr lang="en-US" sz="1200" dirty="0"/>
          </a:p>
        </p:txBody>
      </p:sp>
      <p:sp>
        <p:nvSpPr>
          <p:cNvPr id="21" name="Text 19"/>
          <p:cNvSpPr/>
          <p:nvPr/>
        </p:nvSpPr>
        <p:spPr>
          <a:xfrm>
            <a:off x="812800" y="4498132"/>
            <a:ext cx="41859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02B"/>
                </a:solidFill>
                <a:latin typeface="IBM Plex Sans" pitchFamily="34" charset="0"/>
                <a:ea typeface="IBM Plex Sans" pitchFamily="34" charset="-122"/>
                <a:cs typeface="IBM Plex Sans" pitchFamily="34" charset="-120"/>
              </a:rPr>
              <a:t>About </a:t>
            </a:r>
            <a:r>
              <a:rPr lang="en-US" sz="1400" b="1" dirty="0">
                <a:solidFill>
                  <a:srgbClr val="14202B"/>
                </a:solidFill>
                <a:latin typeface="IBM Plex Sans" pitchFamily="34" charset="0"/>
                <a:ea typeface="IBM Plex Sans" pitchFamily="34" charset="-122"/>
                <a:cs typeface="IBM Plex Sans" pitchFamily="34" charset="-120"/>
              </a:rPr>
              <a:t>1 in 5</a:t>
            </a:r>
            <a:r>
              <a:rPr lang="en-US" sz="1400" dirty="0">
                <a:solidFill>
                  <a:srgbClr val="14202B"/>
                </a:solidFill>
                <a:latin typeface="IBM Plex Sans" pitchFamily="34" charset="0"/>
                <a:ea typeface="IBM Plex Sans" pitchFamily="34" charset="-122"/>
                <a:cs typeface="IBM Plex Sans" pitchFamily="34" charset="-120"/>
              </a:rPr>
              <a:t> inspections finds fraud, against 1 in 18 at random.</a:t>
            </a:r>
            <a:endParaRPr lang="en-US" sz="1400" dirty="0"/>
          </a:p>
        </p:txBody>
      </p:sp>
      <p:sp>
        <p:nvSpPr>
          <p:cNvPr id="22" name="Text 20"/>
          <p:cNvSpPr/>
          <p:nvPr/>
        </p:nvSpPr>
        <p:spPr>
          <a:xfrm>
            <a:off x="5232400" y="1854150"/>
            <a:ext cx="63312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Same final model, three ways to flag clients</a:t>
            </a:r>
            <a:endParaRPr lang="en-US" sz="1200" dirty="0"/>
          </a:p>
        </p:txBody>
      </p:sp>
      <p:sp>
        <p:nvSpPr>
          <p:cNvPr id="23" name="Shape 21"/>
          <p:cNvSpPr/>
          <p:nvPr/>
        </p:nvSpPr>
        <p:spPr>
          <a:xfrm>
            <a:off x="5232400" y="2169071"/>
            <a:ext cx="6146800" cy="2166342"/>
          </a:xfrm>
          <a:prstGeom prst="roundRect">
            <a:avLst>
              <a:gd name="adj" fmla="val 4690"/>
            </a:avLst>
          </a:prstGeom>
          <a:solidFill>
            <a:srgbClr val="FCFAF5"/>
          </a:solidFill>
          <a:ln/>
        </p:spPr>
      </p:sp>
      <p:sp>
        <p:nvSpPr>
          <p:cNvPr id="24" name="Shape 22"/>
          <p:cNvSpPr/>
          <p:nvPr/>
        </p:nvSpPr>
        <p:spPr>
          <a:xfrm>
            <a:off x="5232400" y="2169071"/>
            <a:ext cx="6146800" cy="2166342"/>
          </a:xfrm>
          <a:custGeom>
            <a:avLst/>
            <a:gdLst/>
            <a:ahLst/>
            <a:cxnLst/>
            <a:rect l="l" t="t" r="r" b="b"/>
            <a:pathLst>
              <a:path w="6146800" h="2166342">
                <a:moveTo>
                  <a:pt x="101600" y="2166342"/>
                </a:moveTo>
                <a:lnTo>
                  <a:pt x="101600" y="2166342"/>
                </a:lnTo>
                <a:arcTo hR="101600" wR="101600" stAng="5400000" swAng="5400000"/>
                <a:lnTo>
                  <a:pt x="0" y="101600"/>
                </a:lnTo>
                <a:arcTo hR="101600" wR="101600" stAng="10800000" swAng="5400000"/>
                <a:lnTo>
                  <a:pt x="6045200" y="0"/>
                </a:lnTo>
                <a:arcTo hR="101600" wR="101600" stAng="16200000" swAng="5400000"/>
                <a:lnTo>
                  <a:pt x="6146800" y="101600"/>
                </a:lnTo>
                <a:arcTo hR="88900" wR="101600" stAng="0" swAng="-5400000"/>
                <a:lnTo>
                  <a:pt x="101600" y="12700"/>
                </a:lnTo>
                <a:arcTo hR="88900" wR="88900" stAng="16200000" swAng="-5400000"/>
                <a:lnTo>
                  <a:pt x="12700" y="2064742"/>
                </a:lnTo>
                <a:arcTo hR="101600" wR="88900" stAng="10800000" swAng="-5400000"/>
                <a:close/>
              </a:path>
            </a:pathLst>
          </a:custGeom>
          <a:solidFill>
            <a:srgbClr val="141413">
              <a:alpha val="22000"/>
            </a:srgbClr>
          </a:solidFill>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245100" y="2181771"/>
          <a:ext cx="6134100" cy="2153642"/>
        </p:xfrm>
        <a:graphic>
          <a:graphicData uri="http://schemas.openxmlformats.org/drawingml/2006/table">
            <a:tbl>
              <a:tblPr/>
              <a:tblGrid>
                <a:gridCol w="2085594"/>
                <a:gridCol w="920115"/>
                <a:gridCol w="858774"/>
                <a:gridCol w="1042797"/>
                <a:gridCol w="1226820"/>
              </a:tblGrid>
              <a:tr h="591741">
                <a:tc>
                  <a:txBody>
                    <a:bodyPr/>
                    <a:lstStyle/>
                    <a:p>
                      <a:pP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Setup</a:t>
                      </a:r>
                      <a:endParaRPr lang="en-US" sz="1200" dirty="0">
                        <a:latin typeface="IBM Plex Sans" charset="0"/>
                        <a:ea typeface="IBM Plex Sans" charset="0"/>
                        <a:cs typeface="IBM Plex Sans" charset="0"/>
                      </a:endParaRPr>
                    </a:p>
                  </a:txBody>
                  <a:tcPr marL="101600" marR="101600" marT="76200" marB="76200" anchor="t">
                    <a:lnL w="0" cap="flat" cmpd="sng" algn="ctr">
                      <a:noFill/>
                    </a:lnL>
                    <a:lnR w="12700" cap="flat" cmpd="sng" algn="ctr">
                      <a:solidFill>
                        <a:srgbClr val="141D26"/>
                      </a:solidFill>
                      <a:prstDash val="solid"/>
                      <a:round/>
                      <a:headEnd type="none" w="med" len="med"/>
                      <a:tailEnd type="none" w="med" len="med"/>
                    </a:lnR>
                    <a:lnT w="0" cap="flat" cmpd="sng" algn="ctr">
                      <a:noFill/>
                    </a:lnT>
                    <a:lnB w="12700" cap="flat" cmpd="sng" algn="ctr">
                      <a:solidFill>
                        <a:srgbClr val="141D26"/>
                      </a:solidFill>
                      <a:prstDash val="solid"/>
                      <a:round/>
                      <a:headEnd type="none" w="med" len="med"/>
                      <a:tailEnd type="none" w="med" len="med"/>
                    </a:lnB>
                    <a:solidFill>
                      <a:srgbClr val="14202B"/>
                    </a:solidFill>
                  </a:tcPr>
                </a:tc>
                <a:tc>
                  <a:txBody>
                    <a:bodyPr/>
                    <a:lstStyle/>
                    <a:p>
                      <a:pPr algn="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Fraud caught</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0" cap="flat" cmpd="sng" algn="ctr">
                      <a:noFill/>
                    </a:lnT>
                    <a:lnB w="12700" cap="flat" cmpd="sng" algn="ctr">
                      <a:solidFill>
                        <a:srgbClr val="141D26"/>
                      </a:solidFill>
                      <a:prstDash val="solid"/>
                      <a:round/>
                      <a:headEnd type="none" w="med" len="med"/>
                      <a:tailEnd type="none" w="med" len="med"/>
                    </a:lnB>
                    <a:solidFill>
                      <a:srgbClr val="14202B"/>
                    </a:solidFill>
                  </a:tcPr>
                </a:tc>
                <a:tc>
                  <a:txBody>
                    <a:bodyPr/>
                    <a:lstStyle/>
                    <a:p>
                      <a:pPr algn="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Recall</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0" cap="flat" cmpd="sng" algn="ctr">
                      <a:noFill/>
                    </a:lnT>
                    <a:lnB w="12700" cap="flat" cmpd="sng" algn="ctr">
                      <a:solidFill>
                        <a:srgbClr val="141D26"/>
                      </a:solidFill>
                      <a:prstDash val="solid"/>
                      <a:round/>
                      <a:headEnd type="none" w="med" len="med"/>
                      <a:tailEnd type="none" w="med" len="med"/>
                    </a:lnB>
                    <a:solidFill>
                      <a:srgbClr val="14202B"/>
                    </a:solidFill>
                  </a:tcPr>
                </a:tc>
                <a:tc>
                  <a:txBody>
                    <a:bodyPr/>
                    <a:lstStyle/>
                    <a:p>
                      <a:pPr algn="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Precision</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0" cap="flat" cmpd="sng" algn="ctr">
                      <a:noFill/>
                    </a:lnT>
                    <a:lnB w="12700" cap="flat" cmpd="sng" algn="ctr">
                      <a:solidFill>
                        <a:srgbClr val="141D26"/>
                      </a:solidFill>
                      <a:prstDash val="solid"/>
                      <a:round/>
                      <a:headEnd type="none" w="med" len="med"/>
                      <a:tailEnd type="none" w="med" len="med"/>
                    </a:lnB>
                    <a:solidFill>
                      <a:srgbClr val="14202B"/>
                    </a:solidFill>
                  </a:tcPr>
                </a:tc>
                <a:tc>
                  <a:txBody>
                    <a:bodyPr/>
                    <a:lstStyle/>
                    <a:p>
                      <a:pPr algn="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Honest flagged</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0" cap="flat" cmpd="sng" algn="ctr">
                      <a:noFill/>
                    </a:lnT>
                    <a:lnB w="12700" cap="flat" cmpd="sng" algn="ctr">
                      <a:solidFill>
                        <a:srgbClr val="141D26"/>
                      </a:solidFill>
                      <a:prstDash val="solid"/>
                      <a:round/>
                      <a:headEnd type="none" w="med" len="med"/>
                      <a:tailEnd type="none" w="med" len="med"/>
                    </a:lnB>
                    <a:solidFill>
                      <a:srgbClr val="14202B"/>
                    </a:solidFill>
                  </a:tcPr>
                </a:tc>
              </a:tr>
              <a:tr h="378420">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Model 4, cut-off 0.5</a:t>
                      </a:r>
                      <a:endParaRPr lang="en-US" sz="1200" dirty="0">
                        <a:latin typeface="IBM Plex Sans" charset="0"/>
                        <a:ea typeface="IBM Plex Sans" charset="0"/>
                        <a:cs typeface="IBM Plex Sans" charset="0"/>
                      </a:endParaRPr>
                    </a:p>
                  </a:txBody>
                  <a:tcPr marL="101600" marR="101600" marT="76200" marB="76200" anchor="t">
                    <a:lnL w="0" cap="flat" cmpd="sng" algn="ctr">
                      <a:noFill/>
                    </a:lnL>
                    <a:lnR w="12700" cap="flat" cmpd="sng" algn="ctr">
                      <a:solidFill>
                        <a:srgbClr val="C9C7C3"/>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7C3"/>
                      </a:solidFill>
                      <a:prstDash val="solid"/>
                      <a:round/>
                      <a:headEnd type="none" w="med" len="med"/>
                      <a:tailEnd type="none" w="med" len="med"/>
                    </a:lnB>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179</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9C7C3"/>
                      </a:solidFill>
                      <a:prstDash val="solid"/>
                      <a:round/>
                      <a:headEnd type="none" w="med" len="med"/>
                      <a:tailEnd type="none" w="med" len="med"/>
                    </a:lnL>
                    <a:lnR w="12700" cap="flat" cmpd="sng" algn="ctr">
                      <a:solidFill>
                        <a:srgbClr val="C9C7C3"/>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7C3"/>
                      </a:solidFill>
                      <a:prstDash val="solid"/>
                      <a:round/>
                      <a:headEnd type="none" w="med" len="med"/>
                      <a:tailEnd type="none" w="med" len="med"/>
                    </a:lnB>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9.5%</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9C7C3"/>
                      </a:solidFill>
                      <a:prstDash val="solid"/>
                      <a:round/>
                      <a:headEnd type="none" w="med" len="med"/>
                      <a:tailEnd type="none" w="med" len="med"/>
                    </a:lnL>
                    <a:lnR w="12700" cap="flat" cmpd="sng" algn="ctr">
                      <a:solidFill>
                        <a:srgbClr val="C9C7C3"/>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7C3"/>
                      </a:solidFill>
                      <a:prstDash val="solid"/>
                      <a:round/>
                      <a:headEnd type="none" w="med" len="med"/>
                      <a:tailEnd type="none" w="med" len="med"/>
                    </a:lnB>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58.9%</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9C7C3"/>
                      </a:solidFill>
                      <a:prstDash val="solid"/>
                      <a:round/>
                      <a:headEnd type="none" w="med" len="med"/>
                      <a:tailEnd type="none" w="med" len="med"/>
                    </a:lnL>
                    <a:lnR w="12700" cap="flat" cmpd="sng" algn="ctr">
                      <a:solidFill>
                        <a:srgbClr val="C9C7C3"/>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7C3"/>
                      </a:solidFill>
                      <a:prstDash val="solid"/>
                      <a:round/>
                      <a:headEnd type="none" w="med" len="med"/>
                      <a:tailEnd type="none" w="med" len="med"/>
                    </a:lnB>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125</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9C7C3"/>
                      </a:solidFill>
                      <a:prstDash val="solid"/>
                      <a:round/>
                      <a:headEnd type="none" w="med" len="med"/>
                      <a:tailEnd type="none" w="med" len="med"/>
                    </a:lnL>
                    <a:lnR w="12700" cap="flat" cmpd="sng" algn="ctr">
                      <a:solidFill>
                        <a:srgbClr val="C9C7C3"/>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7C3"/>
                      </a:solidFill>
                      <a:prstDash val="solid"/>
                      <a:round/>
                      <a:headEnd type="none" w="med" len="med"/>
                      <a:tailEnd type="none" w="med" len="med"/>
                    </a:lnB>
                  </a:tcPr>
                </a:tc>
              </a:tr>
              <a:tr h="59174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 fraud weighting, cut-off 0.5</a:t>
                      </a:r>
                      <a:endParaRPr lang="en-US" sz="1200" dirty="0">
                        <a:latin typeface="IBM Plex Sans" charset="0"/>
                        <a:ea typeface="IBM Plex Sans" charset="0"/>
                        <a:cs typeface="IBM Plex Sans" charset="0"/>
                      </a:endParaRPr>
                    </a:p>
                  </a:txBody>
                  <a:tcPr marL="101600" marR="101600" marT="76200" marB="76200" anchor="t">
                    <a:lnL w="0" cap="flat" cmpd="sng" algn="ctr">
                      <a:noFill/>
                    </a:lnL>
                    <a:lnR w="12700" cap="flat" cmpd="sng" algn="ctr">
                      <a:solidFill>
                        <a:srgbClr val="C0BCB4"/>
                      </a:solidFill>
                      <a:prstDash val="solid"/>
                      <a:round/>
                      <a:headEnd type="none" w="med" len="med"/>
                      <a:tailEnd type="none" w="med" len="med"/>
                    </a:lnR>
                    <a:lnT w="12700" cap="flat" cmpd="sng" algn="ctr">
                      <a:solidFill>
                        <a:srgbClr val="C9C7C3"/>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2"/>
                    </a:solidFill>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1,441</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9C7C3"/>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2"/>
                    </a:solidFill>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76.2%</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9C7C3"/>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2"/>
                    </a:solidFill>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19.3%</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9C7C3"/>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2"/>
                    </a:solidFill>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6,030</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0BCB4"/>
                      </a:solidFill>
                      <a:prstDash val="solid"/>
                      <a:round/>
                      <a:headEnd type="none" w="med" len="med"/>
                      <a:tailEnd type="none" w="med" len="med"/>
                    </a:lnL>
                    <a:lnR w="12700" cap="flat" cmpd="sng" algn="ctr">
                      <a:solidFill>
                        <a:srgbClr val="C0BCB4"/>
                      </a:solidFill>
                      <a:prstDash val="solid"/>
                      <a:round/>
                      <a:headEnd type="none" w="med" len="med"/>
                      <a:tailEnd type="none" w="med" len="med"/>
                    </a:lnR>
                    <a:lnT w="12700" cap="flat" cmpd="sng" algn="ctr">
                      <a:solidFill>
                        <a:srgbClr val="C9C7C3"/>
                      </a:solidFill>
                      <a:prstDash val="solid"/>
                      <a:round/>
                      <a:headEnd type="none" w="med" len="med"/>
                      <a:tailEnd type="none" w="med" len="med"/>
                    </a:lnT>
                    <a:lnB w="12700" cap="flat" cmpd="sng" algn="ctr">
                      <a:solidFill>
                        <a:srgbClr val="C0BCB4"/>
                      </a:solidFill>
                      <a:prstDash val="solid"/>
                      <a:round/>
                      <a:headEnd type="none" w="med" len="med"/>
                      <a:tailEnd type="none" w="med" len="med"/>
                    </a:lnB>
                    <a:solidFill>
                      <a:srgbClr val="F1ECE2"/>
                    </a:solidFill>
                  </a:tcPr>
                </a:tc>
              </a:tr>
              <a:tr h="59174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 weighting, cut-off 0.547 (chosen)</a:t>
                      </a:r>
                      <a:endParaRPr lang="en-US" sz="1200" dirty="0">
                        <a:latin typeface="IBM Plex Sans" charset="0"/>
                        <a:ea typeface="IBM Plex Sans" charset="0"/>
                        <a:cs typeface="IBM Plex Sans" charset="0"/>
                      </a:endParaRPr>
                    </a:p>
                  </a:txBody>
                  <a:tcPr marL="101600" marR="101600" marT="76200" marB="76200" anchor="t">
                    <a:lnL w="0" cap="flat" cmpd="sng" algn="ctr">
                      <a:noFill/>
                    </a:lnL>
                    <a:lnR w="12700" cap="flat" cmpd="sng" algn="ctr">
                      <a:solidFill>
                        <a:srgbClr val="C2B2A0"/>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2B2A0"/>
                      </a:solidFill>
                      <a:prstDash val="solid"/>
                      <a:round/>
                      <a:headEnd type="none" w="med" len="med"/>
                      <a:tailEnd type="none" w="med" len="med"/>
                    </a:lnB>
                    <a:solidFill>
                      <a:srgbClr val="F3DFC8"/>
                    </a:solidFill>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1,369</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2B2A0"/>
                      </a:solidFill>
                      <a:prstDash val="solid"/>
                      <a:round/>
                      <a:headEnd type="none" w="med" len="med"/>
                      <a:tailEnd type="none" w="med" len="med"/>
                    </a:lnL>
                    <a:lnR w="12700" cap="flat" cmpd="sng" algn="ctr">
                      <a:solidFill>
                        <a:srgbClr val="C2B2A0"/>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2B2A0"/>
                      </a:solidFill>
                      <a:prstDash val="solid"/>
                      <a:round/>
                      <a:headEnd type="none" w="med" len="med"/>
                      <a:tailEnd type="none" w="med" len="med"/>
                    </a:lnB>
                    <a:solidFill>
                      <a:srgbClr val="F3DFC8"/>
                    </a:solidFill>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72.4%</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2B2A0"/>
                      </a:solidFill>
                      <a:prstDash val="solid"/>
                      <a:round/>
                      <a:headEnd type="none" w="med" len="med"/>
                      <a:tailEnd type="none" w="med" len="med"/>
                    </a:lnL>
                    <a:lnR w="12700" cap="flat" cmpd="sng" algn="ctr">
                      <a:solidFill>
                        <a:srgbClr val="C2B2A0"/>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2B2A0"/>
                      </a:solidFill>
                      <a:prstDash val="solid"/>
                      <a:round/>
                      <a:headEnd type="none" w="med" len="med"/>
                      <a:tailEnd type="none" w="med" len="med"/>
                    </a:lnB>
                    <a:solidFill>
                      <a:srgbClr val="F3DFC8"/>
                    </a:solidFill>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21.2%</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2B2A0"/>
                      </a:solidFill>
                      <a:prstDash val="solid"/>
                      <a:round/>
                      <a:headEnd type="none" w="med" len="med"/>
                      <a:tailEnd type="none" w="med" len="med"/>
                    </a:lnL>
                    <a:lnR w="12700" cap="flat" cmpd="sng" algn="ctr">
                      <a:solidFill>
                        <a:srgbClr val="C2B2A0"/>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2B2A0"/>
                      </a:solidFill>
                      <a:prstDash val="solid"/>
                      <a:round/>
                      <a:headEnd type="none" w="med" len="med"/>
                      <a:tailEnd type="none" w="med" len="med"/>
                    </a:lnB>
                    <a:solidFill>
                      <a:srgbClr val="F3DFC8"/>
                    </a:solidFill>
                  </a:tcPr>
                </a:tc>
                <a:tc>
                  <a:txBody>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5,080</a:t>
                      </a:r>
                      <a:endParaRPr lang="en-US" sz="1200" dirty="0">
                        <a:latin typeface="IBM Plex Sans" charset="0"/>
                        <a:ea typeface="IBM Plex Sans" charset="0"/>
                        <a:cs typeface="IBM Plex Sans" charset="0"/>
                      </a:endParaRPr>
                    </a:p>
                  </a:txBody>
                  <a:tcPr marL="101600" marR="101600" marT="76200" marB="76200" anchor="t">
                    <a:lnL w="12700" cap="flat" cmpd="sng" algn="ctr">
                      <a:solidFill>
                        <a:srgbClr val="C2B2A0"/>
                      </a:solidFill>
                      <a:prstDash val="solid"/>
                      <a:round/>
                      <a:headEnd type="none" w="med" len="med"/>
                      <a:tailEnd type="none" w="med" len="med"/>
                    </a:lnL>
                    <a:lnR w="12700" cap="flat" cmpd="sng" algn="ctr">
                      <a:solidFill>
                        <a:srgbClr val="C2B2A0"/>
                      </a:solidFill>
                      <a:prstDash val="solid"/>
                      <a:round/>
                      <a:headEnd type="none" w="med" len="med"/>
                      <a:tailEnd type="none" w="med" len="med"/>
                    </a:lnR>
                    <a:lnT w="12700" cap="flat" cmpd="sng" algn="ctr">
                      <a:solidFill>
                        <a:srgbClr val="C0BCB4"/>
                      </a:solidFill>
                      <a:prstDash val="solid"/>
                      <a:round/>
                      <a:headEnd type="none" w="med" len="med"/>
                      <a:tailEnd type="none" w="med" len="med"/>
                    </a:lnT>
                    <a:lnB w="12700" cap="flat" cmpd="sng" algn="ctr">
                      <a:solidFill>
                        <a:srgbClr val="C2B2A0"/>
                      </a:solidFill>
                      <a:prstDash val="solid"/>
                      <a:round/>
                      <a:headEnd type="none" w="med" len="med"/>
                      <a:tailEnd type="none" w="med" len="med"/>
                    </a:lnB>
                    <a:solidFill>
                      <a:srgbClr val="F3DFC8"/>
                    </a:solidFill>
                  </a:tcPr>
                </a:tc>
              </a:tr>
            </a:tbl>
          </a:graphicData>
        </a:graphic>
      </p:graphicFrame>
      <p:sp>
        <p:nvSpPr>
          <p:cNvPr id="26" name="Text 23"/>
          <p:cNvSpPr/>
          <p:nvPr/>
        </p:nvSpPr>
        <p:spPr>
          <a:xfrm>
            <a:off x="5232400" y="4513213"/>
            <a:ext cx="633120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0"/>
                </a:solidFill>
                <a:latin typeface="IBM Plex Sans" pitchFamily="34" charset="0"/>
                <a:ea typeface="IBM Plex Sans" pitchFamily="34" charset="-122"/>
                <a:cs typeface="IBM Plex Sans" pitchFamily="34" charset="-120"/>
              </a:rPr>
              <a:t>At the default 0.5 cut-off the model is cautious and finds only 1 in 10 fraudsters. Weighting fraud in training plus a cut-off picked on training data (target: catch 70%) finds nearly 3 in 4.</a:t>
            </a:r>
            <a:endParaRPr lang="en-US" sz="1400" dirty="0"/>
          </a:p>
        </p:txBody>
      </p:sp>
      <p:sp>
        <p:nvSpPr>
          <p:cNvPr id="27" name="Text 24"/>
          <p:cNvSpPr/>
          <p:nvPr/>
        </p:nvSpPr>
        <p:spPr>
          <a:xfrm>
            <a:off x="5232400" y="5388124"/>
            <a:ext cx="63312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Test set: 1,892 fraud and 31,982 honest clients</a:t>
            </a:r>
            <a:endParaRPr lang="en-US" sz="1200" dirty="0"/>
          </a:p>
        </p:txBody>
      </p:sp>
      <p:sp>
        <p:nvSpPr>
          <p:cNvPr id="28" name="Text 25"/>
          <p:cNvSpPr/>
          <p:nvPr/>
        </p:nvSpPr>
        <p:spPr>
          <a:xfrm>
            <a:off x="812800" y="6238280"/>
            <a:ext cx="1727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Catching meter fraud</a:t>
            </a:r>
            <a:endParaRPr lang="en-US" sz="1200" dirty="0"/>
          </a:p>
        </p:txBody>
      </p:sp>
      <p:sp>
        <p:nvSpPr>
          <p:cNvPr id="29" name="Text 26"/>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520C"/>
                </a:solidFill>
                <a:latin typeface="IBM Plex Sans" pitchFamily="34" charset="0"/>
                <a:ea typeface="IBM Plex Sans" pitchFamily="34" charset="-122"/>
                <a:cs typeface="IBM Plex Sans" pitchFamily="34" charset="-120"/>
              </a:rPr>
              <a:t>07 · RECOMMENDATIONS</a:t>
            </a:r>
            <a:endParaRPr lang="en-US" sz="1200" dirty="0"/>
          </a:p>
        </p:txBody>
      </p:sp>
      <p:sp>
        <p:nvSpPr>
          <p:cNvPr id="3" name="Text 1"/>
          <p:cNvSpPr/>
          <p:nvPr>
            <p:ph type="title"/>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02B"/>
                </a:solidFill>
                <a:latin typeface="Space Grotesk" pitchFamily="34" charset="0"/>
                <a:ea typeface="Space Grotesk" pitchFamily="34" charset="-122"/>
                <a:cs typeface="Space Grotesk" pitchFamily="34" charset="-120"/>
              </a:rPr>
              <a:t>From model to a weekly inspection list</a:t>
            </a:r>
            <a:endParaRPr lang="en-US" sz="3200" dirty="0"/>
          </a:p>
        </p:txBody>
      </p:sp>
      <p:sp>
        <p:nvSpPr>
          <p:cNvPr id="4" name="Shape 2"/>
          <p:cNvSpPr/>
          <p:nvPr/>
        </p:nvSpPr>
        <p:spPr>
          <a:xfrm>
            <a:off x="812800" y="1854150"/>
            <a:ext cx="3378200" cy="3548063"/>
          </a:xfrm>
          <a:prstGeom prst="roundRect">
            <a:avLst>
              <a:gd name="adj" fmla="val 3759"/>
            </a:avLst>
          </a:prstGeom>
          <a:solidFill>
            <a:srgbClr val="14202B"/>
          </a:solidFill>
          <a:ln/>
        </p:spPr>
      </p:sp>
      <p:pic>
        <p:nvPicPr>
          <p:cNvPr id="5" name="Image 0" descr="Chart">    </p:cNvPr>
          <p:cNvPicPr>
            <a:picLocks noChangeAspect="1"/>
          </p:cNvPicPr>
          <p:nvPr/>
        </p:nvPicPr>
        <p:blipFill>
          <a:blip r:embed="rId1"/>
          <a:srcRect l="0" r="0" t="0" b="0"/>
          <a:stretch/>
        </p:blipFill>
        <p:spPr>
          <a:xfrm>
            <a:off x="1117600" y="2158950"/>
            <a:ext cx="304800" cy="304800"/>
          </a:xfrm>
          <a:prstGeom prst="rect">
            <a:avLst/>
          </a:prstGeom>
        </p:spPr>
      </p:pic>
      <p:sp>
        <p:nvSpPr>
          <p:cNvPr id="6" name="Text 3"/>
          <p:cNvSpPr/>
          <p:nvPr/>
        </p:nvSpPr>
        <p:spPr>
          <a:xfrm>
            <a:off x="1117600" y="2590750"/>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3EC"/>
                </a:solidFill>
                <a:latin typeface="Space Grotesk" pitchFamily="34" charset="0"/>
                <a:ea typeface="Space Grotesk" pitchFamily="34" charset="-122"/>
                <a:cs typeface="Space Grotesk" pitchFamily="34" charset="-120"/>
              </a:rPr>
              <a:t>The data product</a:t>
            </a:r>
            <a:endParaRPr lang="en-US" sz="2000" dirty="0"/>
          </a:p>
        </p:txBody>
      </p:sp>
      <p:sp>
        <p:nvSpPr>
          <p:cNvPr id="7" name="Text 4"/>
          <p:cNvSpPr/>
          <p:nvPr/>
        </p:nvSpPr>
        <p:spPr>
          <a:xfrm>
            <a:off x="1145032" y="3022550"/>
            <a:ext cx="2818130" cy="157202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C3CDD6"/>
                </a:solidFill>
                <a:latin typeface="IBM Plex Sans" pitchFamily="34" charset="0"/>
                <a:ea typeface="IBM Plex Sans" pitchFamily="34" charset="-122"/>
                <a:cs typeface="IBM Plex Sans" pitchFamily="34" charset="-120"/>
              </a:rPr>
              <a:t>A ranked list of clients by fraud risk, refreshed weekly</a:t>
            </a:r>
            <a:endParaRPr lang="en-US" sz="1400" dirty="0"/>
          </a:p>
          <a:p>
            <a:pPr algn="l" marL="175768" indent="-175768">
              <a:lnSpc>
                <a:spcPts val="2030"/>
              </a:lnSpc>
              <a:buSzPct val="100000"/>
              <a:buChar char="•"/>
            </a:pPr>
            <a:r>
              <a:rPr lang="en-US" sz="1400" dirty="0">
                <a:solidFill>
                  <a:srgbClr val="C3CDD6"/>
                </a:solidFill>
                <a:latin typeface="IBM Plex Sans" pitchFamily="34" charset="0"/>
                <a:ea typeface="IBM Plex Sans" pitchFamily="34" charset="-122"/>
                <a:cs typeface="IBM Plex Sans" pitchFamily="34" charset="-120"/>
              </a:rPr>
              <a:t>Inspectors start at the top and work down</a:t>
            </a:r>
            <a:endParaRPr lang="en-US" sz="1400" dirty="0"/>
          </a:p>
          <a:p>
            <a:pPr algn="l" marL="175768" indent="-175768">
              <a:lnSpc>
                <a:spcPts val="2030"/>
              </a:lnSpc>
              <a:buSzPct val="100000"/>
              <a:buChar char="•"/>
            </a:pPr>
            <a:r>
              <a:rPr lang="en-US" sz="1400" dirty="0">
                <a:solidFill>
                  <a:srgbClr val="C3CDD6"/>
                </a:solidFill>
                <a:latin typeface="IBM Plex Sans" pitchFamily="34" charset="0"/>
                <a:ea typeface="IBM Plex Sans" pitchFamily="34" charset="-122"/>
                <a:cs typeface="IBM Plex Sans" pitchFamily="34" charset="-120"/>
              </a:rPr>
              <a:t>At the chosen cut-off, about 1 in 5 visits finds fraud</a:t>
            </a:r>
            <a:endParaRPr lang="en-US" sz="1400" dirty="0"/>
          </a:p>
        </p:txBody>
      </p:sp>
      <p:sp>
        <p:nvSpPr>
          <p:cNvPr id="8" name="Shape 5"/>
          <p:cNvSpPr/>
          <p:nvPr/>
        </p:nvSpPr>
        <p:spPr>
          <a:xfrm>
            <a:off x="4397375" y="1857325"/>
            <a:ext cx="3384550" cy="3541713"/>
          </a:xfrm>
          <a:prstGeom prst="roundRect">
            <a:avLst>
              <a:gd name="adj" fmla="val 3659"/>
            </a:avLst>
          </a:prstGeom>
          <a:solidFill>
            <a:srgbClr val="FCFAF5"/>
          </a:solidFill>
          <a:ln w="6350">
            <a:solidFill>
              <a:srgbClr val="E3DED3"/>
            </a:solidFill>
            <a:prstDash val="solid"/>
          </a:ln>
        </p:spPr>
      </p:sp>
      <p:pic>
        <p:nvPicPr>
          <p:cNvPr id="9" name="Image 1" descr="Lightbulb">    </p:cNvPr>
          <p:cNvPicPr>
            <a:picLocks noChangeAspect="1"/>
          </p:cNvPicPr>
          <p:nvPr/>
        </p:nvPicPr>
        <p:blipFill>
          <a:blip r:embed="rId2"/>
          <a:srcRect l="0" r="0" t="0" b="0"/>
          <a:stretch/>
        </p:blipFill>
        <p:spPr>
          <a:xfrm>
            <a:off x="4705350" y="2165300"/>
            <a:ext cx="304800" cy="304800"/>
          </a:xfrm>
          <a:prstGeom prst="rect">
            <a:avLst/>
          </a:prstGeom>
        </p:spPr>
      </p:pic>
      <p:sp>
        <p:nvSpPr>
          <p:cNvPr id="10" name="Text 6"/>
          <p:cNvSpPr/>
          <p:nvPr/>
        </p:nvSpPr>
        <p:spPr>
          <a:xfrm>
            <a:off x="4705350" y="2597100"/>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Recommendations</a:t>
            </a:r>
            <a:endParaRPr lang="en-US" sz="2000" dirty="0"/>
          </a:p>
        </p:txBody>
      </p:sp>
      <p:sp>
        <p:nvSpPr>
          <p:cNvPr id="11" name="Text 7"/>
          <p:cNvSpPr/>
          <p:nvPr/>
        </p:nvSpPr>
        <p:spPr>
          <a:xfrm>
            <a:off x="4732782" y="3028900"/>
            <a:ext cx="2818130" cy="2087563"/>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4A5560"/>
                </a:solidFill>
                <a:latin typeface="IBM Plex Sans" pitchFamily="34" charset="0"/>
                <a:ea typeface="IBM Plex Sans" pitchFamily="34" charset="-122"/>
                <a:cs typeface="IBM Plex Sans" pitchFamily="34" charset="-120"/>
              </a:rPr>
              <a:t>Set the cut-off by inspection capacity and the cost of a missed fraud</a:t>
            </a:r>
            <a:endParaRPr lang="en-US" sz="1400" dirty="0"/>
          </a:p>
          <a:p>
            <a:pPr algn="l" marL="175768" indent="-175768">
              <a:lnSpc>
                <a:spcPts val="2030"/>
              </a:lnSpc>
              <a:buSzPct val="100000"/>
              <a:buChar char="•"/>
            </a:pPr>
            <a:r>
              <a:rPr lang="en-US" sz="1400" dirty="0">
                <a:solidFill>
                  <a:srgbClr val="4A5560"/>
                </a:solidFill>
                <a:latin typeface="IBM Plex Sans" pitchFamily="34" charset="0"/>
                <a:ea typeface="IBM Plex Sans" pitchFamily="34" charset="-122"/>
                <a:cs typeface="IBM Plex Sans" pitchFamily="34" charset="-120"/>
              </a:rPr>
              <a:t>Treat backwards readings and frequent tariff changes as red flags</a:t>
            </a:r>
            <a:endParaRPr lang="en-US" sz="1400" dirty="0"/>
          </a:p>
          <a:p>
            <a:pPr algn="l" marL="175768" indent="-175768">
              <a:lnSpc>
                <a:spcPts val="2030"/>
              </a:lnSpc>
              <a:buSzPct val="100000"/>
              <a:buChar char="•"/>
            </a:pPr>
            <a:r>
              <a:rPr lang="en-US" sz="1400" dirty="0">
                <a:solidFill>
                  <a:srgbClr val="4A5560"/>
                </a:solidFill>
                <a:latin typeface="IBM Plex Sans" pitchFamily="34" charset="0"/>
                <a:ea typeface="IBM Plex Sans" pitchFamily="34" charset="-122"/>
                <a:cs typeface="IBM Plex Sans" pitchFamily="34" charset="-120"/>
              </a:rPr>
              <a:t>Record inspection outcomes and feed them back as labels</a:t>
            </a:r>
            <a:endParaRPr lang="en-US" sz="1400" dirty="0"/>
          </a:p>
        </p:txBody>
      </p:sp>
      <p:sp>
        <p:nvSpPr>
          <p:cNvPr id="12" name="Shape 8"/>
          <p:cNvSpPr/>
          <p:nvPr/>
        </p:nvSpPr>
        <p:spPr>
          <a:xfrm>
            <a:off x="7991475" y="1857325"/>
            <a:ext cx="3384550" cy="3541713"/>
          </a:xfrm>
          <a:prstGeom prst="roundRect">
            <a:avLst>
              <a:gd name="adj" fmla="val 3659"/>
            </a:avLst>
          </a:prstGeom>
          <a:solidFill>
            <a:srgbClr val="FCFAF5"/>
          </a:solidFill>
          <a:ln w="6350">
            <a:solidFill>
              <a:srgbClr val="E3DED3"/>
            </a:solidFill>
            <a:prstDash val="solid"/>
          </a:ln>
        </p:spPr>
      </p:sp>
      <p:pic>
        <p:nvPicPr>
          <p:cNvPr id="13" name="Image 2" descr="Wrench">    </p:cNvPr>
          <p:cNvPicPr>
            <a:picLocks noChangeAspect="1"/>
          </p:cNvPicPr>
          <p:nvPr/>
        </p:nvPicPr>
        <p:blipFill>
          <a:blip r:embed="rId3"/>
          <a:srcRect l="0" r="0" t="0" b="0"/>
          <a:stretch/>
        </p:blipFill>
        <p:spPr>
          <a:xfrm>
            <a:off x="8299450" y="2165300"/>
            <a:ext cx="304800" cy="304800"/>
          </a:xfrm>
          <a:prstGeom prst="rect">
            <a:avLst/>
          </a:prstGeom>
        </p:spPr>
      </p:pic>
      <p:sp>
        <p:nvSpPr>
          <p:cNvPr id="14" name="Text 9"/>
          <p:cNvSpPr/>
          <p:nvPr/>
        </p:nvSpPr>
        <p:spPr>
          <a:xfrm>
            <a:off x="8299450" y="2597100"/>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Space Grotesk" pitchFamily="34" charset="0"/>
                <a:ea typeface="Space Grotesk" pitchFamily="34" charset="-122"/>
                <a:cs typeface="Space Grotesk" pitchFamily="34" charset="-120"/>
              </a:rPr>
              <a:t>Next steps</a:t>
            </a:r>
            <a:endParaRPr lang="en-US" sz="2000" dirty="0"/>
          </a:p>
        </p:txBody>
      </p:sp>
      <p:sp>
        <p:nvSpPr>
          <p:cNvPr id="15" name="Text 10"/>
          <p:cNvSpPr/>
          <p:nvPr/>
        </p:nvSpPr>
        <p:spPr>
          <a:xfrm>
            <a:off x="8326882" y="3028900"/>
            <a:ext cx="2818130" cy="2087563"/>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4A5560"/>
                </a:solidFill>
                <a:latin typeface="IBM Plex Sans" pitchFamily="34" charset="0"/>
                <a:ea typeface="IBM Plex Sans" pitchFamily="34" charset="-122"/>
                <a:cs typeface="IBM Plex Sans" pitchFamily="34" charset="-120"/>
              </a:rPr>
              <a:t>Score each feature group on its own (ablation)</a:t>
            </a:r>
            <a:endParaRPr lang="en-US" sz="1400" dirty="0"/>
          </a:p>
          <a:p>
            <a:pPr algn="l" marL="175768" indent="-175768">
              <a:lnSpc>
                <a:spcPts val="2030"/>
              </a:lnSpc>
              <a:buSzPct val="100000"/>
              <a:buChar char="•"/>
            </a:pPr>
            <a:r>
              <a:rPr lang="en-US" sz="1400" dirty="0">
                <a:solidFill>
                  <a:srgbClr val="4A5560"/>
                </a:solidFill>
                <a:latin typeface="IBM Plex Sans" pitchFamily="34" charset="0"/>
                <a:ea typeface="IBM Plex Sans" pitchFamily="34" charset="-122"/>
                <a:cs typeface="IBM Plex Sans" pitchFamily="34" charset="-120"/>
              </a:rPr>
              <a:t>Add data, such as past inspection results</a:t>
            </a:r>
            <a:endParaRPr lang="en-US" sz="1400" dirty="0"/>
          </a:p>
          <a:p>
            <a:pPr algn="l" marL="175768" indent="-175768">
              <a:lnSpc>
                <a:spcPts val="2030"/>
              </a:lnSpc>
              <a:buSzPct val="100000"/>
              <a:buChar char="•"/>
            </a:pPr>
            <a:r>
              <a:rPr lang="en-US" sz="1400" dirty="0">
                <a:solidFill>
                  <a:srgbClr val="4A5560"/>
                </a:solidFill>
                <a:latin typeface="IBM Plex Sans" pitchFamily="34" charset="0"/>
                <a:ea typeface="IBM Plex Sans" pitchFamily="34" charset="-122"/>
                <a:cs typeface="IBM Plex Sans" pitchFamily="34" charset="-120"/>
              </a:rPr>
              <a:t>Try other algorithms, such as XGBoost or CatBoost</a:t>
            </a:r>
            <a:endParaRPr lang="en-US" sz="1400" dirty="0"/>
          </a:p>
          <a:p>
            <a:pPr algn="l" marL="175768" indent="-175768">
              <a:lnSpc>
                <a:spcPts val="2030"/>
              </a:lnSpc>
              <a:buSzPct val="100000"/>
              <a:buChar char="•"/>
            </a:pPr>
            <a:r>
              <a:rPr lang="en-US" sz="1400" dirty="0">
                <a:solidFill>
                  <a:srgbClr val="4A5560"/>
                </a:solidFill>
                <a:latin typeface="IBM Plex Sans" pitchFamily="34" charset="0"/>
                <a:ea typeface="IBM Plex Sans" pitchFamily="34" charset="-122"/>
                <a:cs typeface="IBM Plex Sans" pitchFamily="34" charset="-120"/>
              </a:rPr>
              <a:t>Calibrate scores, since weighting distorts probabilities</a:t>
            </a:r>
            <a:endParaRPr lang="en-US" sz="1400" dirty="0"/>
          </a:p>
        </p:txBody>
      </p:sp>
      <p:sp>
        <p:nvSpPr>
          <p:cNvPr id="16" name="Text 11"/>
          <p:cNvSpPr/>
          <p:nvPr/>
        </p:nvSpPr>
        <p:spPr>
          <a:xfrm>
            <a:off x="812800" y="6238280"/>
            <a:ext cx="17273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Catching meter fraud</a:t>
            </a:r>
            <a:endParaRPr lang="en-US" sz="1200" dirty="0"/>
          </a:p>
        </p:txBody>
      </p:sp>
      <p:sp>
        <p:nvSpPr>
          <p:cNvPr id="17" name="Text 12"/>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02B"/>
        </a:solidFill>
      </p:bgPr>
    </p:bg>
    <p:spTree>
      <p:nvGrpSpPr>
        <p:cNvPr id="1" name=""/>
        <p:cNvGrpSpPr/>
        <p:nvPr/>
      </p:nvGrpSpPr>
      <p:grpSpPr>
        <a:xfrm>
          <a:off x="0" y="0"/>
          <a:ext cx="0" cy="0"/>
          <a:chOff x="0" y="0"/>
          <a:chExt cx="0" cy="0"/>
        </a:xfrm>
      </p:grpSpPr>
      <p:pic>
        <p:nvPicPr>
          <p:cNvPr id="2" name="Image 0" descr="Decorative meter dial with the needle turning backwards">    </p:cNvPr>
          <p:cNvPicPr>
            <a:picLocks noChangeAspect="1"/>
          </p:cNvPicPr>
          <p:nvPr/>
        </p:nvPicPr>
        <p:blipFill>
          <a:blip r:embed="rId1"/>
          <a:srcRect l="0" r="0" t="0" b="0"/>
          <a:stretch/>
        </p:blipFill>
        <p:spPr>
          <a:xfrm>
            <a:off x="8585200" y="1270000"/>
            <a:ext cx="2794000" cy="2794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04B"/>
                </a:solidFill>
                <a:latin typeface="IBM Plex Sans" pitchFamily="34" charset="0"/>
                <a:ea typeface="IBM Plex Sans" pitchFamily="34" charset="-122"/>
                <a:cs typeface="IBM Plex Sans" pitchFamily="34" charset="-120"/>
              </a:rPr>
              <a:t>IN ONE LINE: LOOK AT CHANGE, NOT LEVELS</a:t>
            </a:r>
            <a:endParaRPr lang="en-US" sz="1200" dirty="0"/>
          </a:p>
        </p:txBody>
      </p:sp>
      <p:sp>
        <p:nvSpPr>
          <p:cNvPr id="4" name="Text 1"/>
          <p:cNvSpPr/>
          <p:nvPr>
            <p:ph type="title"/>
          </p:nvPr>
        </p:nvSpPr>
        <p:spPr>
          <a:xfrm>
            <a:off x="812800" y="2597150"/>
            <a:ext cx="719455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3EC"/>
                </a:solidFill>
                <a:latin typeface="Space Grotesk" pitchFamily="34" charset="0"/>
                <a:ea typeface="Space Grotesk" pitchFamily="34" charset="-122"/>
                <a:cs typeface="Space Grotesk" pitchFamily="34" charset="-120"/>
              </a:rPr>
              <a:t>Thank you</a:t>
            </a:r>
            <a:endParaRPr lang="en-US" sz="6000" dirty="0"/>
          </a:p>
        </p:txBody>
      </p:sp>
      <p:sp>
        <p:nvSpPr>
          <p:cNvPr id="5" name="Text 2"/>
          <p:cNvSpPr/>
          <p:nvPr/>
        </p:nvSpPr>
        <p:spPr>
          <a:xfrm>
            <a:off x="812800" y="3549650"/>
            <a:ext cx="719455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0A04B"/>
                </a:solidFill>
                <a:latin typeface="IBM Plex Sans" pitchFamily="34" charset="0"/>
                <a:ea typeface="IBM Plex Sans" pitchFamily="34" charset="-122"/>
                <a:cs typeface="IBM Plex Sans" pitchFamily="34" charset="-120"/>
              </a:rPr>
              <a:t>Questions?</a:t>
            </a:r>
            <a:endParaRPr lang="en-US" sz="2000" dirty="0"/>
          </a:p>
        </p:txBody>
      </p:sp>
      <p:sp>
        <p:nvSpPr>
          <p:cNvPr id="6" name="Text 3"/>
          <p:cNvSpPr/>
          <p:nvPr/>
        </p:nvSpPr>
        <p:spPr>
          <a:xfrm>
            <a:off x="812800" y="5450880"/>
            <a:ext cx="228820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6F3EC"/>
                </a:solidFill>
                <a:latin typeface="Space Grotesk" pitchFamily="34" charset="0"/>
                <a:ea typeface="Space Grotesk" pitchFamily="34" charset="-122"/>
                <a:cs typeface="Space Grotesk" pitchFamily="34" charset="-120"/>
              </a:rPr>
              <a:t>0.796 → 0.872</a:t>
            </a:r>
            <a:endParaRPr lang="en-US" sz="2000" dirty="0"/>
          </a:p>
        </p:txBody>
      </p:sp>
      <p:sp>
        <p:nvSpPr>
          <p:cNvPr id="7" name="Text 4"/>
          <p:cNvSpPr/>
          <p:nvPr/>
        </p:nvSpPr>
        <p:spPr>
          <a:xfrm>
            <a:off x="812800" y="5831880"/>
            <a:ext cx="26658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6"/>
                </a:solidFill>
                <a:latin typeface="IBM Plex Sans" pitchFamily="34" charset="0"/>
                <a:ea typeface="IBM Plex Sans" pitchFamily="34" charset="-122"/>
                <a:cs typeface="IBM Plex Sans" pitchFamily="34" charset="-120"/>
              </a:rPr>
              <a:t>test AUC, baseline to final model</a:t>
            </a:r>
            <a:endParaRPr lang="en-US" sz="1200" dirty="0"/>
          </a:p>
        </p:txBody>
      </p:sp>
      <p:sp>
        <p:nvSpPr>
          <p:cNvPr id="8" name="Text 5"/>
          <p:cNvSpPr/>
          <p:nvPr/>
        </p:nvSpPr>
        <p:spPr>
          <a:xfrm>
            <a:off x="3542357" y="5450880"/>
            <a:ext cx="193226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6F3EC"/>
                </a:solidFill>
                <a:latin typeface="Space Grotesk" pitchFamily="34" charset="0"/>
                <a:ea typeface="Space Grotesk" pitchFamily="34" charset="-122"/>
                <a:cs typeface="Space Grotesk" pitchFamily="34" charset="-120"/>
              </a:rPr>
              <a:t>≈ 0 vs +0.076</a:t>
            </a:r>
            <a:endParaRPr lang="en-US" sz="2000" dirty="0"/>
          </a:p>
        </p:txBody>
      </p:sp>
      <p:sp>
        <p:nvSpPr>
          <p:cNvPr id="9" name="Text 6"/>
          <p:cNvSpPr/>
          <p:nvPr/>
        </p:nvSpPr>
        <p:spPr>
          <a:xfrm>
            <a:off x="3542357" y="5831880"/>
            <a:ext cx="16610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6"/>
                </a:solidFill>
                <a:latin typeface="IBM Plex Sans" pitchFamily="34" charset="0"/>
                <a:ea typeface="IBM Plex Sans" pitchFamily="34" charset="-122"/>
                <a:cs typeface="IBM Plex Sans" pitchFamily="34" charset="-120"/>
              </a:rPr>
              <a:t>tuning vs new features</a:t>
            </a:r>
            <a:endParaRPr lang="en-US" sz="1200" dirty="0"/>
          </a:p>
        </p:txBody>
      </p:sp>
      <p:sp>
        <p:nvSpPr>
          <p:cNvPr id="10" name="Text 7"/>
          <p:cNvSpPr/>
          <p:nvPr/>
        </p:nvSpPr>
        <p:spPr>
          <a:xfrm>
            <a:off x="5660579" y="5450880"/>
            <a:ext cx="256116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0A04B"/>
                </a:solidFill>
                <a:latin typeface="Space Grotesk" pitchFamily="34" charset="0"/>
                <a:ea typeface="Space Grotesk" pitchFamily="34" charset="-122"/>
                <a:cs typeface="Space Grotesk" pitchFamily="34" charset="-120"/>
              </a:rPr>
              <a:t>72%</a:t>
            </a:r>
            <a:endParaRPr lang="en-US" sz="2000" dirty="0"/>
          </a:p>
        </p:txBody>
      </p:sp>
      <p:sp>
        <p:nvSpPr>
          <p:cNvPr id="11" name="Text 8"/>
          <p:cNvSpPr/>
          <p:nvPr/>
        </p:nvSpPr>
        <p:spPr>
          <a:xfrm>
            <a:off x="5660579" y="5831880"/>
            <a:ext cx="29838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6"/>
                </a:solidFill>
                <a:latin typeface="IBM Plex Sans" pitchFamily="34" charset="0"/>
                <a:ea typeface="IBM Plex Sans" pitchFamily="34" charset="-122"/>
                <a:cs typeface="IBM Plex Sans" pitchFamily="34" charset="-120"/>
              </a:rPr>
              <a:t>of fraud caught at the chosen cut-off</a:t>
            </a:r>
            <a:endParaRPr lang="en-US" sz="1200" dirty="0"/>
          </a:p>
        </p:txBody>
      </p:sp>
    </p:spTree>
  </p:cSld>
  <p:clrMapOvr>
    <a:masterClrMapping/>
  </p:clrMapOvr>
</p:sld>
</file>

<file path=ppt/theme/theme1.xml><?xml version="1.0" encoding="utf-8"?>
<a:theme xmlns:a="http://schemas.openxmlformats.org/drawingml/2006/main" name="Catching Meter Fraud">
  <a:themeElements>
    <a:clrScheme name="Catching Meter Fraud">
      <a:dk1>
        <a:srgbClr val="14202B"/>
      </a:dk1>
      <a:lt1>
        <a:srgbClr val="F6F3EC"/>
      </a:lt1>
      <a:dk2>
        <a:srgbClr val="4D555B"/>
      </a:dk2>
      <a:lt2>
        <a:srgbClr val="DFDED9"/>
      </a:lt2>
      <a:accent1>
        <a:srgbClr val="A9520C"/>
      </a:accent1>
      <a:accent2>
        <a:srgbClr val="2F6DB5"/>
      </a:accent2>
      <a:accent3>
        <a:srgbClr val="E8892F"/>
      </a:accent3>
      <a:accent4>
        <a:srgbClr val="F0A04B"/>
      </a:accent4>
      <a:accent5>
        <a:srgbClr val="F3DFC8"/>
      </a:accent5>
      <a:accent6>
        <a:srgbClr val="A9BCD0"/>
      </a:accent6>
      <a:hlink>
        <a:srgbClr val="0563C1"/>
      </a:hlink>
      <a:folHlink>
        <a:srgbClr val="954F72"/>
      </a:folHlink>
    </a:clrScheme>
    <a:fontScheme name="Catching Meter Fraud">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Catching Meter Fraud</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2026-10-22T13:40:10Z</dcterms:created>
  <dcterms:modified xsi:type="dcterms:W3CDTF">2026-10-22T13:40:10Z</dcterms:modified>
</cp:coreProperties>
</file>